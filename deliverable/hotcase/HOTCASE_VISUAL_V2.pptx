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35824" y="877824"/>
            <a:ext cx="3639312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oe_her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0"/>
            <a:ext cx="3566160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86868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VISUAL SPECIAL · 视觉优化专场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67665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1688 电商产品图设计</a:t>
            </a:r>
          </a:p>
          <a:p>
            <a:pPr algn="l">
              <a:lnSpc>
                <a:spcPct val="112000"/>
              </a:lnSpc>
            </a:pPr>
            <a:r>
              <a:rPr sz="2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原始样图 × AI 重设计 × 套图批量生成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6583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D7DDE8"/>
                </a:solidFill>
                <a:latin typeface="Microsoft YaHei"/>
                <a:ea typeface="Microsoft YaHei"/>
                <a:cs typeface="Microsoft YaHei"/>
              </a:rPr>
              <a:t>产品图设计专项：网络/实拍原始图 » AI 重设计卖点主图 » 场景/规格/细节套图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D7DDE8"/>
                </a:solidFill>
                <a:latin typeface="Microsoft YaHei"/>
                <a:ea typeface="Microsoft YaHei"/>
                <a:cs typeface="Microsoft YaHei"/>
              </a:rPr>
              <a:t>三条真实产品线实做：洞洞鞋鞋花 / 保温杯 / 帆布托特包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617720"/>
            <a:ext cx="6309360" cy="1371600"/>
          </a:xfrm>
          <a:prstGeom prst="roundRect">
            <a:avLst>
              <a:gd name="adj" fmla="val 12000"/>
            </a:avLst>
          </a:prstGeom>
          <a:solidFill>
            <a:srgbClr val="2E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773168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D9BE"/>
                </a:solidFill>
                <a:latin typeface="Microsoft YaHei"/>
                <a:ea typeface="Microsoft YaHei"/>
                <a:cs typeface="Microsoft YaHei"/>
              </a:rPr>
              <a:t>对比结果（示例复盘口径）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193792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鞋子案例 CTR 1.1% » 5.2%（×4.7）｜ 三案例平均 CTR +171%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单套套图成本 ¥2,000+ » 约 ¥150，出图周期 3-5 天 » 0.5 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3093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4A8"/>
                </a:solidFill>
                <a:latin typeface="Microsoft YaHei"/>
                <a:ea typeface="Microsoft YaHei"/>
                <a:cs typeface="Microsoft YaHei"/>
              </a:rPr>
              <a:t>承接《爆款案例复刻》v1 的方法论：本册聚焦“图”本身 ｜ 全部数据为示例复盘口径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1688 主图的五个标准图位：先把“货架语法”吃透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5-SLOT RULE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188720"/>
          <a:ext cx="7315197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5373"/>
                <a:gridCol w="1192695"/>
                <a:gridCol w="2862469"/>
                <a:gridCol w="250466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图位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通过标准（类目通用经验）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本册案例对应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主图 1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白底合格图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纯白底、主体居中、无文案牛皮癣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网络原始白底图（直接合格） or AI 换底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主图 2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核心卖点图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高饱和场景化底 + 大字卖点，CTR 担当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重设计 hero 图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主图 3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场景图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真实使用代入感，带情绪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场景图（上脚/桌面/出街）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主图 4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细节·内容图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材质特写 / 套装内容的“所见即所得”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套装矩阵图/细节特写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主图 5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规格·SKU 图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颜色组合一览，降低选错成本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SKU 色卡 / 条卡图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092440" y="1188720"/>
            <a:ext cx="3703320" cy="352044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3716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点击公式（经验式）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810512"/>
            <a:ext cx="3310128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CTR = 信息密度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     × 色彩对比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     × 标题留白区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     × 场景联想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四个因子都可在“原始图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重设计”时显式控制——这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正是 AI 作图比模板修图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更强的原因。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5029200"/>
            <a:ext cx="11384280" cy="960120"/>
          </a:xfrm>
          <a:prstGeom prst="roundRect">
            <a:avLst>
              <a:gd name="adj" fmla="val 12000"/>
            </a:avLst>
          </a:prstGeom>
          <a:solidFill>
            <a:srgbClr val="FFF4EC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175504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本册方法：主图 1 用“合格的原始白底图”承接搜索权重；主图 2-5 由 AI 按同一风格基因一次性产出，48h A/B 双投后赢家进基因库。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579108"/>
            <a:ext cx="104543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视觉优化专项 v2 · 1688 电商产品图设计 ｜ 数据为示例复盘口径（非平台真实数据）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57255" y="657910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一张原始图到一套电商图：AI 套图生产线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2697480" cy="214884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2697480" cy="512064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98448"/>
            <a:ext cx="2697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  采集原始图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874519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3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网络公开样张 / 手机残图</a:t>
            </a:r>
          </a:p>
          <a:p>
            <a:pPr algn="ctr">
              <a:lnSpc>
                <a:spcPct val="130000"/>
              </a:lnSpc>
            </a:pPr>
            <a:r>
              <a:rPr sz="103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（演示：样张 2 张 + AI 残图 1 张）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148840"/>
            <a:ext cx="320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1234440"/>
            <a:ext cx="2697480" cy="2148840"/>
          </a:xfrm>
          <a:prstGeom prst="roundRect">
            <a:avLst>
              <a:gd name="adj" fmla="val 12000"/>
            </a:avLst>
          </a:prstGeom>
          <a:solidFill>
            <a:srgbClr val="FFF4EC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55848" y="1234440"/>
            <a:ext cx="2697480" cy="512064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1298448"/>
            <a:ext cx="2697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  AI 重设计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874519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3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保主体、换影棚</a:t>
            </a:r>
          </a:p>
          <a:p>
            <a:pPr algn="ctr">
              <a:lnSpc>
                <a:spcPct val="130000"/>
              </a:lnSpc>
            </a:pPr>
            <a:r>
              <a:rPr sz="103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渐变底/道具/光影（hero ×2 方向）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7608" y="2148840"/>
            <a:ext cx="320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216" y="1234440"/>
            <a:ext cx="2697480" cy="214884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0216" y="1234440"/>
            <a:ext cx="2697480" cy="512064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1298448"/>
            <a:ext cx="2697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  套图扩展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1874519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3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场景图 / SKU 色卡 / 细节内容</a:t>
            </a:r>
          </a:p>
          <a:p>
            <a:pPr algn="ctr">
              <a:lnSpc>
                <a:spcPct val="130000"/>
              </a:lnSpc>
            </a:pPr>
            <a:r>
              <a:rPr sz="103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同风格基因一键延展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1976" y="2148840"/>
            <a:ext cx="320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44584" y="1234440"/>
            <a:ext cx="2697480" cy="2148840"/>
          </a:xfrm>
          <a:prstGeom prst="roundRect">
            <a:avLst>
              <a:gd name="adj" fmla="val 12000"/>
            </a:avLst>
          </a:prstGeom>
          <a:solidFill>
            <a:srgbClr val="FFF4EC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44584" y="1234440"/>
            <a:ext cx="2697480" cy="512064"/>
          </a:xfrm>
          <a:prstGeom prst="roundRect">
            <a:avLst>
              <a:gd name="adj" fmla="val 12000"/>
            </a:avLst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44584" y="1298448"/>
            <a:ext cx="2697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 A/B 投放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9176" y="1874519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3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双投 48h 出胜负</a:t>
            </a:r>
          </a:p>
          <a:p>
            <a:pPr algn="ctr">
              <a:lnSpc>
                <a:spcPct val="130000"/>
              </a:lnSpc>
            </a:pPr>
            <a:r>
              <a:rPr sz="103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赢家回灌爆款基因库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3794760"/>
            <a:ext cx="11384280" cy="914400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31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D9BE"/>
                </a:solidFill>
                <a:latin typeface="Microsoft YaHei"/>
                <a:ea typeface="Microsoft YaHei"/>
                <a:cs typeface="Microsoft YaHei"/>
              </a:rPr>
              <a:t>节奏：每个 SKU 一套（1 张重设计 hero + 2 张场景 + 1 张 SKU + 1 张细节），产出 &lt;= 1 小时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31596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传统外包同规格 3-5 天 / ¥2,000+；本流程算力成本约 ¥150 / 套（含人工确认）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5029200"/>
            <a:ext cx="113385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0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本册原始素材来源</a:t>
            </a: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：eBay/Amazon 公开商品页样张（鞋/水杯）+ AI 生成残图（帆布包），来源清单见第 16 页。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0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角色分工</a:t>
            </a: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：人只做“选方向 + 确认”，修图/布景/延展全部交给设计专家 Agent。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579108"/>
            <a:ext cx="104543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视觉优化专项 v2 · 1688 电商产品图设计 ｜ 数据为示例复盘口径（非平台真实数据）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57255" y="657910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三个案例一览：跨品类验证同一条生产线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3 CASES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3611880" cy="457200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92124" y="1426464"/>
            <a:ext cx="2450592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hoe_her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463040"/>
            <a:ext cx="2377440" cy="2377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40690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鞋花 · 洞洞鞋配饰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52628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99432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CTR 1.1% » 5.2%，×4.7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12064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配饰类：密度与童心是点击之本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87952" y="1234440"/>
            <a:ext cx="3611880" cy="457200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68596" y="1426464"/>
            <a:ext cx="2450592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ottle_hero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172" y="1463040"/>
            <a:ext cx="2377440" cy="2377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70832" y="40690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保温杯 · 家居日用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90872" y="452628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90872" y="4599432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CTR 1.6% » 4.1%，×2.6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512064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家居日用：质感与场景叙事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64424" y="1234440"/>
            <a:ext cx="3611880" cy="457200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56448" y="1754816"/>
            <a:ext cx="3227832" cy="179388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tote_hero_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1791392"/>
            <a:ext cx="3154680" cy="172073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147304" y="40690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帆布托特包 · 服饰配件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67344" y="452628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67344" y="4599432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CTR 1.4% » 3.8%，×2.7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7304" y="512064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服饰配件：材质纹理 + 定制心智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79108"/>
            <a:ext cx="104543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视觉优化专项 v2 · 1688 电商产品图设计 ｜ 数据为示例复盘口径（非平台真实数据）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57255" y="657910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 1 · 鞋子主对比：从“白底证件照”到“橱窗海报”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SHOES BEFORE/AFTER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3" y="1197864"/>
            <a:ext cx="3456432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rc_crocs_whi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234440"/>
            <a:ext cx="3383280" cy="33832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398264" y="1197864"/>
            <a:ext cx="3456432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e_hero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234440"/>
            <a:ext cx="3383280" cy="33832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193024" y="1197864"/>
            <a:ext cx="3639312" cy="201833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hoe_sce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234440"/>
            <a:ext cx="3566160" cy="194517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041648" y="2697480"/>
            <a:ext cx="384048" cy="548640"/>
          </a:xfrm>
          <a:prstGeom prst="roundRect">
            <a:avLst>
              <a:gd name="adj" fmla="val 12000"/>
            </a:avLst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41648" y="2761488"/>
            <a:ext cx="38404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7848" y="2697480"/>
            <a:ext cx="384048" cy="548640"/>
          </a:xfrm>
          <a:prstGeom prst="roundRect">
            <a:avLst>
              <a:gd name="adj" fmla="val 12000"/>
            </a:avLst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2761488"/>
            <a:ext cx="38404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773168"/>
            <a:ext cx="3566160" cy="384048"/>
          </a:xfrm>
          <a:prstGeom prst="roundRect">
            <a:avLst>
              <a:gd name="adj" fmla="val 12000"/>
            </a:avLst>
          </a:prstGeom>
          <a:solidFill>
            <a:srgbClr val="8A8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837176"/>
            <a:ext cx="34198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原始白底图（网络样张）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4773168"/>
            <a:ext cx="3566160" cy="384048"/>
          </a:xfrm>
          <a:prstGeom prst="roundRect">
            <a:avLst>
              <a:gd name="adj" fmla="val 12000"/>
            </a:avLst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6552" y="4837176"/>
            <a:ext cx="34198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重设计 · 卖点主图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773168"/>
            <a:ext cx="3566160" cy="384048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4837176"/>
            <a:ext cx="34198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场景图 · 上脚代入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440680"/>
            <a:ext cx="2738628" cy="713232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5513832"/>
            <a:ext cx="26289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点击率 CTR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5715000"/>
            <a:ext cx="26289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C2571B"/>
                </a:solidFill>
                <a:latin typeface="Microsoft YaHei"/>
                <a:ea typeface="Microsoft YaHei"/>
                <a:cs typeface="Microsoft YaHei"/>
              </a:rPr>
              <a:t>1.1% » 5.2%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" y="6007608"/>
            <a:ext cx="26289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×4.7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23844" y="5440680"/>
            <a:ext cx="2738628" cy="713232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78708" y="5513832"/>
            <a:ext cx="26289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平均点击成本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78708" y="5715000"/>
            <a:ext cx="26289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C2571B"/>
                </a:solidFill>
                <a:latin typeface="Microsoft YaHei"/>
                <a:ea typeface="Microsoft YaHei"/>
                <a:cs typeface="Microsoft YaHei"/>
              </a:rPr>
              <a:t>0.52 » 0.31 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78708" y="6007608"/>
            <a:ext cx="26289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-41%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0488" y="5440680"/>
            <a:ext cx="2738628" cy="713232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45352" y="5513832"/>
            <a:ext cx="26289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进店加购率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5352" y="5715000"/>
            <a:ext cx="26289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C2571B"/>
                </a:solidFill>
                <a:latin typeface="Microsoft YaHei"/>
                <a:ea typeface="Microsoft YaHei"/>
                <a:cs typeface="Microsoft YaHei"/>
              </a:rPr>
              <a:t>×2.3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5352" y="6007608"/>
            <a:ext cx="26289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48h 双投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57132" y="5440680"/>
            <a:ext cx="2738628" cy="713232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11996" y="5513832"/>
            <a:ext cx="26289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单图成本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11996" y="5715000"/>
            <a:ext cx="26289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C2571B"/>
                </a:solidFill>
                <a:latin typeface="Microsoft YaHei"/>
                <a:ea typeface="Microsoft YaHei"/>
                <a:cs typeface="Microsoft YaHei"/>
              </a:rPr>
              <a:t>约 ¥18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11996" y="6007608"/>
            <a:ext cx="26289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AI 重设计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6579108"/>
            <a:ext cx="104543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视觉优化专项 v2 · 1688 电商产品图设计 ｜ 数据为示例复盘口径（非平台真实数据）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57255" y="657910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 1 注解：5 个设计决策，每个都可被复述给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ANNOTATIONS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3" y="1243584"/>
            <a:ext cx="2359152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rc_crocs_whi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2286000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65760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优化前</a:t>
            </a:r>
          </a:p>
        </p:txBody>
      </p:sp>
      <p:sp>
        <p:nvSpPr>
          <p:cNvPr id="9" name="Rectangle 8"/>
          <p:cNvSpPr/>
          <p:nvPr/>
        </p:nvSpPr>
        <p:spPr>
          <a:xfrm>
            <a:off x="3575304" y="1243584"/>
            <a:ext cx="2359152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hoe_hero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280160"/>
            <a:ext cx="2286000" cy="228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29000" y="365760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2571B"/>
                </a:solidFill>
                <a:latin typeface="Microsoft YaHei"/>
                <a:ea typeface="Microsoft YaHei"/>
                <a:cs typeface="Microsoft YaHei"/>
              </a:rPr>
              <a:t>优化后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280160"/>
            <a:ext cx="914400" cy="658368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39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280160"/>
            <a:ext cx="20116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16368" y="1362456"/>
            <a:ext cx="181051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平白灰底，无情绪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36608" y="1426463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10928" y="1280160"/>
            <a:ext cx="2084831" cy="658368"/>
          </a:xfrm>
          <a:prstGeom prst="roundRect">
            <a:avLst>
              <a:gd name="adj" fmla="val 12000"/>
            </a:avLst>
          </a:prstGeom>
          <a:solidFill>
            <a:srgbClr val="FFF3E9"/>
          </a:solidFill>
          <a:ln w="12700">
            <a:solidFill>
              <a:srgbClr val="F87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20656" y="1362456"/>
            <a:ext cx="188366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暖橙影棚渐变 + 地板投影，第一眼出跳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057400"/>
            <a:ext cx="914400" cy="658368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2402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信息密度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2057400"/>
            <a:ext cx="20116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16368" y="2139696"/>
            <a:ext cx="181051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鞋面全空，零卖点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6608" y="220370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10928" y="2057400"/>
            <a:ext cx="2084831" cy="658368"/>
          </a:xfrm>
          <a:prstGeom prst="roundRect">
            <a:avLst>
              <a:gd name="adj" fmla="val 12000"/>
            </a:avLst>
          </a:prstGeom>
          <a:solidFill>
            <a:srgbClr val="FFF3E9"/>
          </a:solidFill>
          <a:ln w="12700">
            <a:solidFill>
              <a:srgbClr val="F87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0656" y="2139696"/>
            <a:ext cx="188366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12+ 主题鞋花满配，“密度感”即卖点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834640"/>
            <a:ext cx="914400" cy="658368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0175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色彩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2834640"/>
            <a:ext cx="20116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16368" y="2916936"/>
            <a:ext cx="181051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全图一个白色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36608" y="298094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»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10928" y="2834640"/>
            <a:ext cx="2084831" cy="658368"/>
          </a:xfrm>
          <a:prstGeom prst="roundRect">
            <a:avLst>
              <a:gd name="adj" fmla="val 12000"/>
            </a:avLst>
          </a:prstGeom>
          <a:solidFill>
            <a:srgbClr val="FFF3E9"/>
          </a:solidFill>
          <a:ln w="12700">
            <a:solidFill>
              <a:srgbClr val="F87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20656" y="2916936"/>
            <a:ext cx="188366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高饱原色撞暖底，缩略图也抢睛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3611880"/>
            <a:ext cx="914400" cy="658368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947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标题留白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06640" y="3611880"/>
            <a:ext cx="20116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16368" y="3694176"/>
            <a:ext cx="181051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无设计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36608" y="375818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»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10928" y="3611880"/>
            <a:ext cx="2084831" cy="658368"/>
          </a:xfrm>
          <a:prstGeom prst="roundRect">
            <a:avLst>
              <a:gd name="adj" fmla="val 12000"/>
            </a:avLst>
          </a:prstGeom>
          <a:solidFill>
            <a:srgbClr val="FFF3E9"/>
          </a:solidFill>
          <a:ln w="12700">
            <a:solidFill>
              <a:srgbClr val="F87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20656" y="3694176"/>
            <a:ext cx="188366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顶部 1/4 渐变纯色区，给“12 枚不重复”让位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4389120"/>
            <a:ext cx="914400" cy="658368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45720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光影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06640" y="4389120"/>
            <a:ext cx="20116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16368" y="4471416"/>
            <a:ext cx="181051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平光无影，像 P 图素材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36608" y="453542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»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10928" y="4389120"/>
            <a:ext cx="2084831" cy="658368"/>
          </a:xfrm>
          <a:prstGeom prst="roundRect">
            <a:avLst>
              <a:gd name="adj" fmla="val 12000"/>
            </a:avLst>
          </a:prstGeom>
          <a:solidFill>
            <a:srgbClr val="FFF3E9"/>
          </a:solidFill>
          <a:ln w="12700">
            <a:solidFill>
              <a:srgbClr val="F87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20656" y="4471416"/>
            <a:ext cx="188366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侧光 + 软投影，立体质感可信度上升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5440680"/>
            <a:ext cx="11338560" cy="822960"/>
          </a:xfrm>
          <a:prstGeom prst="roundRect">
            <a:avLst>
              <a:gd name="adj" fmla="val 12000"/>
            </a:avLst>
          </a:prstGeom>
          <a:solidFill>
            <a:srgbClr val="FFF4EC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5577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每个差异点都是一句提示词：「暖橙影棚渐变底」「鞋面满配主题鞋花」「顶侧光软投影」——设计专家 Agent 按此清单复述执行，保证每一版都可复现。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6579108"/>
            <a:ext cx="104543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视觉优化专项 v2 · 1688 电商产品图设计 ｜ 数据为示例复盘口径（非平台真实数据）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57255" y="657910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 1 · 电商套图：五张主图一次配齐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5-IMAGE SET · SHOES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2212848" cy="39776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rc_crocs_whi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2029967"/>
            <a:ext cx="1993392" cy="199339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4828032"/>
            <a:ext cx="2212848" cy="384048"/>
          </a:xfrm>
          <a:prstGeom prst="roundRect">
            <a:avLst>
              <a:gd name="adj" fmla="val 12000"/>
            </a:avLst>
          </a:prstGeom>
          <a:solidFill>
            <a:srgbClr val="8A8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488289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主图 1 · 白底合格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24912" y="1234440"/>
            <a:ext cx="2212848" cy="39776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87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hoe_hero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2029967"/>
            <a:ext cx="1993392" cy="199339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724912" y="4828032"/>
            <a:ext cx="2212848" cy="384048"/>
          </a:xfrm>
          <a:prstGeom prst="roundRect">
            <a:avLst>
              <a:gd name="adj" fmla="val 12000"/>
            </a:avLst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24912" y="488289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主图 2 · 核心卖点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38344" y="1234440"/>
            <a:ext cx="2212848" cy="39776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53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hoe_sce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72" y="2483011"/>
            <a:ext cx="1993392" cy="108730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38344" y="4828032"/>
            <a:ext cx="2212848" cy="384048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38344" y="488289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主图 3 · 场景代入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51775" y="1234440"/>
            <a:ext cx="2212848" cy="39776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9D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detail_ban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503" y="2470368"/>
            <a:ext cx="1993392" cy="111259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7351775" y="4828032"/>
            <a:ext cx="2212848" cy="384048"/>
          </a:xfrm>
          <a:prstGeom prst="roundRect">
            <a:avLst>
              <a:gd name="adj" fmla="val 12000"/>
            </a:avLst>
          </a:prstGeom>
          <a:solidFill>
            <a:srgbClr val="1F9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51775" y="488289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主图 4 · 套装内容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5207" y="1234440"/>
            <a:ext cx="2212848" cy="39776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25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hoe_sk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4935" y="2483011"/>
            <a:ext cx="1993392" cy="1087304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9665207" y="4828032"/>
            <a:ext cx="2212848" cy="384048"/>
          </a:xfrm>
          <a:prstGeom prst="roundRect">
            <a:avLst>
              <a:gd name="adj" fmla="val 12000"/>
            </a:avLst>
          </a:prstGeom>
          <a:solidFill>
            <a:srgbClr val="C25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65207" y="488289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主图 5 · SKU 色卡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5486400"/>
            <a:ext cx="11384280" cy="777240"/>
          </a:xfrm>
          <a:prstGeom prst="roundRect">
            <a:avLst>
              <a:gd name="adj" fmla="val 12000"/>
            </a:avLst>
          </a:prstGeom>
          <a:solidFill>
            <a:srgbClr val="FFF4EC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60527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五张共用同一风格基因（暖橙/高饱/顶侧光/留白区），买手滑到任何一张都认得出是同一家店；SKU 色卡直接当“选色器”用，减少询单沟通。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6579108"/>
            <a:ext cx="104543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视觉优化专项 v2 · 1688 电商产品图设计 ｜ 数据为示例复盘口径（非平台真实数据）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57255" y="657910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 2 · 保温杯：白底配件图进化为“生活方式海报”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BOTTLE BEFORE/AFTER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3" y="1197864"/>
            <a:ext cx="3456432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rc_bottle_past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234440"/>
            <a:ext cx="3383280" cy="33832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398264" y="1197864"/>
            <a:ext cx="3456432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ottle_hero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234440"/>
            <a:ext cx="3383280" cy="33832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193024" y="1197864"/>
            <a:ext cx="3639312" cy="206356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ottle_sce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234440"/>
            <a:ext cx="3566160" cy="199041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041648" y="2697480"/>
            <a:ext cx="384048" cy="548640"/>
          </a:xfrm>
          <a:prstGeom prst="roundRect">
            <a:avLst>
              <a:gd name="adj" fmla="val 12000"/>
            </a:avLst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41648" y="2761488"/>
            <a:ext cx="38404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7848" y="2697480"/>
            <a:ext cx="384048" cy="548640"/>
          </a:xfrm>
          <a:prstGeom prst="roundRect">
            <a:avLst>
              <a:gd name="adj" fmla="val 12000"/>
            </a:avLst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2761488"/>
            <a:ext cx="38404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773168"/>
            <a:ext cx="3566160" cy="384048"/>
          </a:xfrm>
          <a:prstGeom prst="roundRect">
            <a:avLst>
              <a:gd name="adj" fmla="val 12000"/>
            </a:avLst>
          </a:prstGeom>
          <a:solidFill>
            <a:srgbClr val="8A8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837176"/>
            <a:ext cx="34198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原始白底图（网络样张）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4773168"/>
            <a:ext cx="3566160" cy="384048"/>
          </a:xfrm>
          <a:prstGeom prst="roundRect">
            <a:avLst>
              <a:gd name="adj" fmla="val 12000"/>
            </a:avLst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6552" y="4837176"/>
            <a:ext cx="34198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重设计 · 卖点主图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773168"/>
            <a:ext cx="3566160" cy="384048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4837176"/>
            <a:ext cx="34198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场景图 · 晨间办公桌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440680"/>
            <a:ext cx="2738628" cy="713232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5513832"/>
            <a:ext cx="26289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点击率 CTR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5715000"/>
            <a:ext cx="26289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C2571B"/>
                </a:solidFill>
                <a:latin typeface="Microsoft YaHei"/>
                <a:ea typeface="Microsoft YaHei"/>
                <a:cs typeface="Microsoft YaHei"/>
              </a:rPr>
              <a:t>1.6% » 4.1%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" y="6007608"/>
            <a:ext cx="26289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×2.6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23844" y="5440680"/>
            <a:ext cx="2738628" cy="713232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78708" y="5513832"/>
            <a:ext cx="26289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平均点击成本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78708" y="5715000"/>
            <a:ext cx="26289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C2571B"/>
                </a:solidFill>
                <a:latin typeface="Microsoft YaHei"/>
                <a:ea typeface="Microsoft YaHei"/>
                <a:cs typeface="Microsoft YaHei"/>
              </a:rPr>
              <a:t>0.45 » 0.28 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78708" y="6007608"/>
            <a:ext cx="26289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-38%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0488" y="5440680"/>
            <a:ext cx="2738628" cy="713232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45352" y="5513832"/>
            <a:ext cx="26289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详情页停留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5352" y="5715000"/>
            <a:ext cx="26289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C2571B"/>
                </a:solidFill>
                <a:latin typeface="Microsoft YaHei"/>
                <a:ea typeface="Microsoft YaHei"/>
                <a:cs typeface="Microsoft YaHei"/>
              </a:rPr>
              <a:t>19s » 41s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5352" y="6007608"/>
            <a:ext cx="26289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+116%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57132" y="5440680"/>
            <a:ext cx="2738628" cy="713232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11996" y="5513832"/>
            <a:ext cx="26289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单图成本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11996" y="5715000"/>
            <a:ext cx="26289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C2571B"/>
                </a:solidFill>
                <a:latin typeface="Microsoft YaHei"/>
                <a:ea typeface="Microsoft YaHei"/>
                <a:cs typeface="Microsoft YaHei"/>
              </a:rPr>
              <a:t>约 ¥18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11996" y="6007608"/>
            <a:ext cx="26289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AI 重设计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6579108"/>
            <a:ext cx="104543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视觉优化专项 v2 · 1688 电商产品图设计 ｜ 数据为示例复盘口径（非平台真实数据）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57255" y="657910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 2 · 套图与详情页首屏：一只杯子的四种说法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IMAGE SET · BOTTLE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265176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rc_bottle_past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2377440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43484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白底合格图</a:t>
            </a:r>
          </a:p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（主图 1 · 网络样张）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234440"/>
            <a:ext cx="265176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87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ottle_hero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371600"/>
            <a:ext cx="2377440" cy="2377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83280" y="443484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C2571B"/>
                </a:solidFill>
                <a:latin typeface="Microsoft YaHei"/>
                <a:ea typeface="Microsoft YaHei"/>
                <a:cs typeface="Microsoft YaHei"/>
              </a:rPr>
              <a:t>卖点主图（主图 2）</a:t>
            </a:r>
          </a:p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C2571B"/>
                </a:solidFill>
                <a:latin typeface="Microsoft YaHei"/>
                <a:ea typeface="Microsoft YaHei"/>
                <a:cs typeface="Microsoft YaHei"/>
              </a:rPr>
              <a:t>「双盖双吸管 · 500ml」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234440"/>
            <a:ext cx="265176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53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ottle_sce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371600"/>
            <a:ext cx="2377440" cy="132694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17920" y="443484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场景图（主图 3）</a:t>
            </a:r>
          </a:p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「你的上午第一杯热咖啡」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1234440"/>
            <a:ext cx="2880360" cy="411480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4173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详情页首屏文案（S1）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1874519"/>
            <a:ext cx="25603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9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人群对号</a:t>
            </a:r>
            <a:r>
              <a:rPr sz="9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通勤/自习/健身三场景开场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9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卖点排序</a:t>
            </a:r>
            <a:r>
              <a:rPr sz="9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保温时长 » 双盖配置 » 渐变颜值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9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数字锚点</a:t>
            </a:r>
            <a:r>
              <a:rPr sz="9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「保温 8h·保冷 16h」大字对标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9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承接</a:t>
            </a:r>
            <a:r>
              <a:rPr sz="9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第二屏直接给配件全家福（双盖 2 吸管）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5532120"/>
            <a:ext cx="11384280" cy="731520"/>
          </a:xfrm>
          <a:prstGeom prst="roundRect">
            <a:avLst>
              <a:gd name="adj" fmla="val 12000"/>
            </a:avLst>
          </a:prstGeom>
          <a:solidFill>
            <a:srgbClr val="FFF4EC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65099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同一套图逻辑：先“货架及格”（白底），再“货架抢睛”（卖点），再“装进生活”（场景），详情页首屏用场景图 + 卖点数字承接点击。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579108"/>
            <a:ext cx="104543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视觉优化专项 v2 · 1688 电商产品图设计 ｜ 数据为示例复盘口径（非平台真实数据）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57255" y="657910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 3 · 帆布托特包：手机残图 » 质感大片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TOTE BEFORE/AFTER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1197864"/>
            <a:ext cx="3639312" cy="201833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ote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3566160" cy="194517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306824" y="1197864"/>
            <a:ext cx="3639312" cy="201833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ote_hero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234440"/>
            <a:ext cx="3566160" cy="194517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193024" y="1197864"/>
            <a:ext cx="3639312" cy="201833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ote_sce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234440"/>
            <a:ext cx="3566160" cy="194517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041648" y="2697480"/>
            <a:ext cx="384048" cy="548640"/>
          </a:xfrm>
          <a:prstGeom prst="roundRect">
            <a:avLst>
              <a:gd name="adj" fmla="val 12000"/>
            </a:avLst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41648" y="2761488"/>
            <a:ext cx="38404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7848" y="2697480"/>
            <a:ext cx="384048" cy="548640"/>
          </a:xfrm>
          <a:prstGeom prst="roundRect">
            <a:avLst>
              <a:gd name="adj" fmla="val 12000"/>
            </a:avLst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2761488"/>
            <a:ext cx="38404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773168"/>
            <a:ext cx="3566160" cy="384048"/>
          </a:xfrm>
          <a:prstGeom prst="roundRect">
            <a:avLst>
              <a:gd name="adj" fmla="val 12000"/>
            </a:avLst>
          </a:prstGeom>
          <a:solidFill>
            <a:srgbClr val="8A8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837176"/>
            <a:ext cx="34198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手机残图（AI 模拟实拍）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4773168"/>
            <a:ext cx="3566160" cy="384048"/>
          </a:xfrm>
          <a:prstGeom prst="roundRect">
            <a:avLst>
              <a:gd name="adj" fmla="val 12000"/>
            </a:avLst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6552" y="4837176"/>
            <a:ext cx="34198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重设计 · 卖点主图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773168"/>
            <a:ext cx="3566160" cy="384048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4837176"/>
            <a:ext cx="34198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场景图 · 出街购物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440680"/>
            <a:ext cx="2738628" cy="713232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5513832"/>
            <a:ext cx="26289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点击率 CTR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5715000"/>
            <a:ext cx="26289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C2571B"/>
                </a:solidFill>
                <a:latin typeface="Microsoft YaHei"/>
                <a:ea typeface="Microsoft YaHei"/>
                <a:cs typeface="Microsoft YaHei"/>
              </a:rPr>
              <a:t>1.4% » 3.8%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" y="6007608"/>
            <a:ext cx="26289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×2.7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23844" y="5440680"/>
            <a:ext cx="2738628" cy="713232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78708" y="5513832"/>
            <a:ext cx="26289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平均点击成本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78708" y="5715000"/>
            <a:ext cx="26289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C2571B"/>
                </a:solidFill>
                <a:latin typeface="Microsoft YaHei"/>
                <a:ea typeface="Microsoft YaHei"/>
                <a:cs typeface="Microsoft YaHei"/>
              </a:rPr>
              <a:t>0.38 » 0.26 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78708" y="6007608"/>
            <a:ext cx="26289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-32%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0488" y="5440680"/>
            <a:ext cx="2738628" cy="713232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45352" y="5513832"/>
            <a:ext cx="26289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询单转化率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5352" y="5715000"/>
            <a:ext cx="26289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C2571B"/>
                </a:solidFill>
                <a:latin typeface="Microsoft YaHei"/>
                <a:ea typeface="Microsoft YaHei"/>
                <a:cs typeface="Microsoft YaHei"/>
              </a:rPr>
              <a:t>3.6% » 7.9%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5352" y="6007608"/>
            <a:ext cx="26289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+119%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57132" y="5440680"/>
            <a:ext cx="2738628" cy="713232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11996" y="5513832"/>
            <a:ext cx="26289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单图成本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11996" y="5715000"/>
            <a:ext cx="26289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C2571B"/>
                </a:solidFill>
                <a:latin typeface="Microsoft YaHei"/>
                <a:ea typeface="Microsoft YaHei"/>
                <a:cs typeface="Microsoft YaHei"/>
              </a:rPr>
              <a:t>约 ¥18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11996" y="6007608"/>
            <a:ext cx="26289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AI 重设计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6579108"/>
            <a:ext cx="104543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视觉优化专项 v2 · 1688 电商产品图设计 ｜ 数据为示例复盘口径（非平台真实数据）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57255" y="657910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 3 · 套图与卖点卡：把“定制感”卖出来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IMAGE SET · TOTE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265176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ote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2377440" cy="12967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43484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优化前 · 手机残图</a:t>
            </a:r>
          </a:p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（工厂自检随手拍）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234440"/>
            <a:ext cx="265176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87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ote_hero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371600"/>
            <a:ext cx="2377440" cy="12967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83280" y="443484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C2571B"/>
                </a:solidFill>
                <a:latin typeface="Microsoft YaHei"/>
                <a:ea typeface="Microsoft YaHei"/>
                <a:cs typeface="Microsoft YaHei"/>
              </a:rPr>
              <a:t>卖点主图</a:t>
            </a:r>
          </a:p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C2571B"/>
                </a:solidFill>
                <a:latin typeface="Microsoft YaHei"/>
                <a:ea typeface="Microsoft YaHei"/>
                <a:cs typeface="Microsoft YaHei"/>
              </a:rPr>
              <a:t>「12 安本色帆 · 刺绣定制」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234440"/>
            <a:ext cx="265176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53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ote_sce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371600"/>
            <a:ext cx="2377440" cy="12967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17920" y="443484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场景图</a:t>
            </a:r>
          </a:p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「通勤到市集的一只袋」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1234440"/>
            <a:ext cx="2880360" cy="411480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4173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卖点卡（可贴主图角标）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1874519"/>
            <a:ext cx="25603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9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12 安本色帆</a:t>
            </a:r>
            <a:r>
              <a:rPr sz="9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挺括不塌形（材质数据化）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9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刺绣可选字</a:t>
            </a:r>
            <a:r>
              <a:rPr sz="9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小单快反 50 件起订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9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工厂直发</a:t>
            </a:r>
            <a:r>
              <a:rPr sz="9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48h 打样周期承诺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9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角标版式</a:t>
            </a:r>
            <a:r>
              <a:rPr sz="9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右上扇形底 + 黑字 &gt;= 28pt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5532120"/>
            <a:ext cx="11384280" cy="731520"/>
          </a:xfrm>
          <a:prstGeom prst="roundRect">
            <a:avLst>
              <a:gd name="adj" fmla="val 12000"/>
            </a:avLst>
          </a:prstGeom>
          <a:solidFill>
            <a:srgbClr val="FFF4EC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65099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残图不是废图：AI 先“修复”构图与光影，再叠加卖点刺绣与场景——工厂不需要影棚也能有品牌级货架。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579108"/>
            <a:ext cx="104543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视觉优化专项 v2 · 1688 电商产品图设计 ｜ 数据为示例复盘口径（非平台真实数据）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57255" y="657910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产能对照：一条套图流水线 = 一个小型美工团队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THROUGHPUT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34440"/>
          <a:ext cx="7223757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081"/>
                <a:gridCol w="1938081"/>
                <a:gridCol w="2026176"/>
                <a:gridCol w="1321419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工序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产出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用时（示例）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原始图采集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网络样张 / 手机残图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张合格底图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分钟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重设计（hero）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底图 + 风格基因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主图 2 方向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分钟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场景图扩展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hero 定稿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场景图 ×2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分钟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SKU / 细节延展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定稿基因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SKU 图 + 细节图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分钟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文案角标 + 质检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全套图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上架包（5+2 张）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 分钟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张原始图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一套 7 张电商图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&lt;= 1 小时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001000" y="1234440"/>
            <a:ext cx="3794760" cy="356616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4173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对照传统外包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874519"/>
            <a:ext cx="33832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0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拍摄+修图</a:t>
            </a: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3-5 天，¥2,000+/套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0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改稿往返</a:t>
            </a: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平均 2.4 轮，周期再 +2 天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0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风格延续</a:t>
            </a: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换美工 = 换风格，基因断层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0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本流程</a:t>
            </a: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¥150/套，1 小时，基因永续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5074920"/>
            <a:ext cx="11384280" cy="868680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D9BE"/>
                </a:solidFill>
                <a:latin typeface="Microsoft YaHei"/>
                <a:ea typeface="Microsoft YaHei"/>
                <a:cs typeface="Microsoft YaHei"/>
              </a:rPr>
              <a:t>瓶颈已经从“作图速度”变成“决策速度”——方向稿确认 &lt;= 10 分钟，是保住 1 小时周期的唯一人工闸门。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579108"/>
            <a:ext cx="104543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视觉优化专项 v2 · 1688 电商产品图设计 ｜ 数据为示例复盘口径（非平台真实数据）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57255" y="657910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三案例投放复盘：同一个公式，三次复现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A/B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904" y="1197864"/>
            <a:ext cx="6931152" cy="360606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tr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6858000" cy="353290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234440"/>
            <a:ext cx="4160520" cy="356616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41732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规律复用度评估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874519"/>
            <a:ext cx="374903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0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四因子全部正向</a:t>
            </a: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：密度/对比/留白/场景，三案例无一次回退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0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跨品类可迁移</a:t>
            </a: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：公式不变，参数随品类微调（色系/密度阈值）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0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边际成本递减</a:t>
            </a: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：第 3 个案例复用基因库，出图用时 -35%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0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沉淀</a:t>
            </a: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：胜出图全部回灌爆款基因库（风格 prompt + 版式）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5029200"/>
            <a:ext cx="11384280" cy="960120"/>
          </a:xfrm>
          <a:prstGeom prst="roundRect">
            <a:avLst>
              <a:gd name="adj" fmla="val 12000"/>
            </a:avLst>
          </a:prstGeom>
          <a:solidFill>
            <a:srgbClr val="FFF4EC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175504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三案例平均：CTR ×3.1｜点击成本 -37%｜详情停留 +90%——“好看”不是玄学，是可以写进提示词的四个因子（示例复盘口径）。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579108"/>
            <a:ext cx="104543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视觉优化专项 v2 · 1688 电商产品图设计 ｜ 数据为示例复盘口径（非平台真实数据）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7255" y="657910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上架前质检：8 条硬指标，机器可自动判读 7 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QC CHECKLIST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34440"/>
          <a:ext cx="11384278" cy="4402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467"/>
                <a:gridCol w="1759388"/>
                <a:gridCol w="6106113"/>
                <a:gridCol w="3001310"/>
              </a:tblGrid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#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检查项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通过标准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判读方式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标题安全区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主图 2 顶部留白 不低于 15%（纯色区内）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机器（像素方差）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信息密度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卖点元素覆盖率 60%-90%，过密判噪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机器（分割占比）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字级安全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主标题 不低于 64pt（按 800px 图折算）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机器（OCR 框高）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主色控制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主色 &lt;= 3，暖色底与产品明度差 &gt;= 30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机器（聚类）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边缘距离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主体任何方向距边 不低于 4%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机器（目标检测）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五图齐全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白底/卖点/场景/细节/SKU 五槽无空缺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机器（清单核对）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合规词库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无绝对化用语、无 IP 形象、无他牌 logo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机器 + 人工抽检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文件规范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800×800 起，单张 &lt; 3MB，webp/jpg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机器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1480" y="5486400"/>
            <a:ext cx="11384280" cy="566928"/>
          </a:xfrm>
          <a:prstGeom prst="roundRect">
            <a:avLst>
              <a:gd name="adj" fmla="val 12000"/>
            </a:avLst>
          </a:prstGeom>
          <a:solidFill>
            <a:srgbClr val="FFF4EC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59612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质检脚本挂在设计专家流水线末端：不过检的图不回传商家，直接回炉重生成。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79108"/>
            <a:ext cx="104543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视觉优化专项 v2 · 1688 电商产品图设计 ｜ 数据为示例复盘口径（非平台真实数据）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7255" y="657910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提示词资产：三部分锁定“可复现的质感”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PROMPTS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5532120" cy="420624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重设计 restyle 模板（图改图）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83080"/>
            <a:ext cx="51206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锁主体：keep the [product] exactly as it is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换影棚：place on a [podium/backdrop]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        warm [cream»peach] studio gradient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加道具：add [eucalyptus sprig / podium / shadow]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打光法：soft natural side light, gentle shadows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留版面：clear negative space at top for title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风格锚：premium minimal e-commerce styling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188720"/>
            <a:ext cx="5532120" cy="420624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35331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场景 scene 模板（文生图）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1783080"/>
            <a:ext cx="51206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人物化用：lower legs / hand only, no face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给语境：sunlit campus sidewalk / cafe storefront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控纵深：shallow depth of field, dappled light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定色盘：cream and beige palette / peach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要情绪：joyful fresh mood / cozy office mood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落脚点：editorial lifestyle photo for online store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5532120"/>
            <a:ext cx="11384280" cy="566928"/>
          </a:xfrm>
          <a:prstGeom prst="roundRect">
            <a:avLst>
              <a:gd name="adj" fmla="val 12000"/>
            </a:avLst>
          </a:prstGeom>
          <a:solidFill>
            <a:srgbClr val="FFF4EC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632704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三个案例的成图全部由以上两组模板 + 各品类“风格锚词”生成；模板随胜出款持续回写基因库。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79108"/>
            <a:ext cx="104543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视觉优化专项 v2 · 1688 电商产品图设计 ｜ 数据为示例复盘口径（非平台真实数据）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7255" y="657910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素材来源与合规：演示可溯源，商用有替换路径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PROVENANCE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34440"/>
          <a:ext cx="7863838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389"/>
                <a:gridCol w="3419060"/>
                <a:gridCol w="2222389"/>
              </a:tblGrid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素材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本册用途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src_crocs_white.jpg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eBay 公开商品页样图（白色洞洞鞋）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白底合格图 / 优化前对照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src_bottle_pastel.jpg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Amazon 公开商品页样图（渐变保温杯）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白底合格图 / 优化前对照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tote_before.png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生成的“手机残图”模拟样张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优化前对照（规避图床版权）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img2/ 其余 8 张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生成/图改图（自有示例素材）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卖点主图 / 场景 / SKU / 套图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img/ 3 张（v1 沿用）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生成（自有示例素材）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套装内容图等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49640" y="1234440"/>
            <a:ext cx="3246120" cy="310896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14173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商用替换路径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8346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8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98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真实店铺</a:t>
            </a:r>
            <a:r>
              <a:rPr sz="98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：原始图全部替换为自有拍摄源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8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98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样张定位</a:t>
            </a:r>
            <a:r>
              <a:rPr sz="98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：本册网络样张仅作方法论演示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8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98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AI 图声明</a:t>
            </a:r>
            <a:r>
              <a:rPr sz="98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：按平台规则做 AI 生成标注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4572000"/>
            <a:ext cx="11384280" cy="1325880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71830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合规声明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206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本册全部 CTR/成本/转化数据为示例复盘口径，不构成经营承诺；网络样张版权归原权利方所有，仅用于方法论演示；对外商用请使用自有拍摄素材并遵守平台 AI 内容标注规则。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579108"/>
            <a:ext cx="104543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视觉优化专项 v2 · 1688 电商产品图设计 ｜ 数据为示例复盘口径（非平台真实数据）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7255" y="657910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