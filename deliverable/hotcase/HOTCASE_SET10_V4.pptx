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15784" y="786384"/>
            <a:ext cx="4279392" cy="42793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u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822960"/>
            <a:ext cx="420624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86868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ONE CASE · TEN IMAGES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6751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一个案例 · 十张图</a:t>
            </a:r>
          </a:p>
          <a:p>
            <a:pPr algn="l">
              <a:lnSpc>
                <a:spcPct val="112000"/>
              </a:lnSpc>
            </a:pPr>
            <a:r>
              <a:rPr sz="3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1688 标准套图序列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D7DDE8"/>
                </a:solidFill>
                <a:latin typeface="Microsoft YaHei"/>
                <a:ea typeface="Microsoft YaHei"/>
                <a:cs typeface="Microsoft YaHei"/>
              </a:rPr>
              <a:t>案例：奶云浮雕马克杯 350ml（潮瓷产地白牌 · 素色影棚口径）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7DDE8"/>
                </a:solidFill>
                <a:latin typeface="Microsoft YaHei"/>
                <a:ea typeface="Microsoft YaHei"/>
                <a:cs typeface="Microsoft YaHei"/>
              </a:rPr>
              <a:t>图片：AI 素色影棚底图（背景做减法）+ 文字标注零错字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43400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2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53712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D9BE"/>
                </a:solidFill>
                <a:latin typeface="Microsoft YaHei"/>
                <a:ea typeface="Microsoft YaHei"/>
                <a:cs typeface="Microsoft YaHei"/>
              </a:rPr>
              <a:t>十图序列（1688 详情/主图通用货架语法）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56048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主图 · 2 细节 · 3 实力 · 4 好评 · 5 定制 · 6 使用效果 · 7 场景 · 8 核心卖点 · 9 规格参数 · 10 包装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每张图都有明确职责：抢点击 / 答疑虑 / 建信任 / 推转化 / 拓询盘 / 破顾虑 / 促分享 / 做钩子 / 助下单 / 促成交。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4A8"/>
                </a:solidFill>
                <a:latin typeface="Microsoft YaHei"/>
                <a:ea typeface="Microsoft YaHei"/>
                <a:cs typeface="Microsoft YaHei"/>
              </a:rPr>
              <a:t>全部数据为示例复盘口径 ｜ 素材构成与合规见封底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十张图总览：一套图就是一个销售动线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3017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ALL 10 AT A GLANCE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2212848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3" y="1307592"/>
            <a:ext cx="1828800" cy="1828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3209544"/>
            <a:ext cx="2212848" cy="512064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3273552"/>
            <a:ext cx="206654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 主图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抢点击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24912" y="1234440"/>
            <a:ext cx="2212848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936" y="1307592"/>
            <a:ext cx="1828800" cy="18288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724912" y="3209544"/>
            <a:ext cx="2212848" cy="512064"/>
          </a:xfrm>
          <a:prstGeom prst="roundRect">
            <a:avLst>
              <a:gd name="adj" fmla="val 12000"/>
            </a:avLst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98064" y="3273552"/>
            <a:ext cx="206654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 细节图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1234440"/>
            <a:ext cx="2212848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368" y="1307592"/>
            <a:ext cx="1828800" cy="18288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38344" y="3209544"/>
            <a:ext cx="2212848" cy="512064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1496" y="3273552"/>
            <a:ext cx="206654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 实力图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建信任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1234440"/>
            <a:ext cx="2212848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307592"/>
            <a:ext cx="1828800" cy="18288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351775" y="3209544"/>
            <a:ext cx="2212848" cy="512064"/>
          </a:xfrm>
          <a:prstGeom prst="roundRect">
            <a:avLst>
              <a:gd name="adj" fmla="val 12000"/>
            </a:avLst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4927" y="3273552"/>
            <a:ext cx="206654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 好评图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推转化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5207" y="1234440"/>
            <a:ext cx="2212848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1" y="1307592"/>
            <a:ext cx="1828800" cy="18288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665207" y="3209544"/>
            <a:ext cx="2212848" cy="512064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59" y="3273552"/>
            <a:ext cx="206654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 定制服务图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拓询盘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922776"/>
            <a:ext cx="2212848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3" y="3995928"/>
            <a:ext cx="1828800" cy="18288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11480" y="5897880"/>
            <a:ext cx="2212848" cy="512064"/>
          </a:xfrm>
          <a:prstGeom prst="roundRect">
            <a:avLst>
              <a:gd name="adj" fmla="val 12000"/>
            </a:avLst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5961888"/>
            <a:ext cx="206654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  使用效果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破顾虑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24912" y="3922776"/>
            <a:ext cx="2212848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m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6936" y="3995928"/>
            <a:ext cx="1828800" cy="18288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2724912" y="5897880"/>
            <a:ext cx="2212848" cy="512064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98064" y="5961888"/>
            <a:ext cx="206654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  场景图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促分享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38344" y="3922776"/>
            <a:ext cx="2212848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m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0368" y="3995928"/>
            <a:ext cx="1828800" cy="18288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038344" y="5897880"/>
            <a:ext cx="2212848" cy="512064"/>
          </a:xfrm>
          <a:prstGeom prst="roundRect">
            <a:avLst>
              <a:gd name="adj" fmla="val 12000"/>
            </a:avLst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11496" y="5961888"/>
            <a:ext cx="206654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  核心卖点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做钩子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51775" y="3922776"/>
            <a:ext cx="2212848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m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3995928"/>
            <a:ext cx="1828800" cy="1828800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7351775" y="5897880"/>
            <a:ext cx="2212848" cy="512064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24927" y="5961888"/>
            <a:ext cx="206654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9  规格参数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助下单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65207" y="3922776"/>
            <a:ext cx="2212848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m1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57231" y="3995928"/>
            <a:ext cx="1828800" cy="18288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665207" y="5897880"/>
            <a:ext cx="2212848" cy="512064"/>
          </a:xfrm>
          <a:prstGeom prst="roundRect">
            <a:avLst>
              <a:gd name="adj" fmla="val 12000"/>
            </a:avLst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8359" y="5961888"/>
            <a:ext cx="206654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  包装展示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促成交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79108"/>
            <a:ext cx="1045433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一个案例 · 十张图 · 1688 标准套图序列 ｜ 数据为示例复盘口径（非平台真实数据）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57255" y="657910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 张 · 主图 · 货架第一眼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3017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SLOT 1/10 · 抢点击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" y="1197864"/>
            <a:ext cx="4919472" cy="4919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84632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23560" y="1234440"/>
            <a:ext cx="6126480" cy="3520440"/>
          </a:xfrm>
          <a:prstGeom prst="roundRect">
            <a:avLst>
              <a:gd name="adj" fmla="val 12000"/>
            </a:avLst>
          </a:prstGeom>
          <a:solidFill>
            <a:srgbClr val="FFF9F3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4173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设计说明（本图为什么这么画）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874519"/>
            <a:ext cx="55778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大面积留白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素色影棚底，杯子就是唯一焦点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大字价格锚点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¥9.9/只 + “第二只半价”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四角信息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主题/卖点/价格/履约各占一角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4892040"/>
            <a:ext cx="6126480" cy="914400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502920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投放效果（示例复盘口径）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535838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D9BE"/>
                </a:solidFill>
                <a:latin typeface="Microsoft YaHei"/>
                <a:ea typeface="Microsoft YaHei"/>
                <a:cs typeface="Microsoft YaHei"/>
              </a:rPr>
              <a:t>点击率 CTR 0.9% » 4.8%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11384280" cy="18288"/>
          </a:xfrm>
          <a:prstGeom prst="rect">
            <a:avLst/>
          </a:prstGeom>
          <a:solidFill>
            <a:srgbClr val="E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87044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文件：img4/final/m1.jpg（1240×1240）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79108"/>
            <a:ext cx="1045433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一个案例 · 十张图 · 1688 标准套图序列 ｜ 数据为示例复盘口径（非平台真实数据）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57910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2 张 · 细节图 · 所见即所得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3017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SLOT 2/10 · 答疑虑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" y="1197864"/>
            <a:ext cx="4919472" cy="4919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84632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23560" y="1234440"/>
            <a:ext cx="6126480" cy="3520440"/>
          </a:xfrm>
          <a:prstGeom prst="roundRect">
            <a:avLst>
              <a:gd name="adj" fmla="val 12000"/>
            </a:avLst>
          </a:prstGeom>
          <a:solidFill>
            <a:srgbClr val="FFF9F3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4173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设计说明（本图为什么这么画）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874519"/>
            <a:ext cx="55778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宏观微距看糙米釉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哑光纹理看得见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引出线 callout×4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釉面/杯口/把手/底足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图上文字全部矢量排版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杜绝 AI 错字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4892040"/>
            <a:ext cx="6126480" cy="914400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502920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投放效果（示例复盘口径）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535838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D9BE"/>
                </a:solidFill>
                <a:latin typeface="Microsoft YaHei"/>
                <a:ea typeface="Microsoft YaHei"/>
                <a:cs typeface="Microsoft YaHei"/>
              </a:rPr>
              <a:t>详情页跳失率 -21%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11384280" cy="18288"/>
          </a:xfrm>
          <a:prstGeom prst="rect">
            <a:avLst/>
          </a:prstGeom>
          <a:solidFill>
            <a:srgbClr val="E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87044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文件：img4/final/m2.jpg（1240×1240）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79108"/>
            <a:ext cx="1045433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一个案例 · 十张图 · 1688 标准套图序列 ｜ 数据为示例复盘口径（非平台真实数据）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57910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张 · 实力图 · 工厂信任状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3017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SLOT 3/10 · 建信任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" y="1197864"/>
            <a:ext cx="4919472" cy="4919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84632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23560" y="1234440"/>
            <a:ext cx="6126480" cy="3520440"/>
          </a:xfrm>
          <a:prstGeom prst="roundRect">
            <a:avLst>
              <a:gd name="adj" fmla="val 12000"/>
            </a:avLst>
          </a:prstGeom>
          <a:solidFill>
            <a:srgbClr val="FFF9F3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4173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设计说明（本图为什么这么画）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874519"/>
            <a:ext cx="55778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制瓷车间实景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窑与坯的真实感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四数据卡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年供/日产/打样/全检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批发客决策链：先信厂，再谈货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4892040"/>
            <a:ext cx="6126480" cy="914400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502920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投放效果（示例复盘口径）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535838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D9BE"/>
                </a:solidFill>
                <a:latin typeface="Microsoft YaHei"/>
                <a:ea typeface="Microsoft YaHei"/>
                <a:cs typeface="Microsoft YaHei"/>
              </a:rPr>
              <a:t>询单量 +29%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11384280" cy="18288"/>
          </a:xfrm>
          <a:prstGeom prst="rect">
            <a:avLst/>
          </a:prstGeom>
          <a:solidFill>
            <a:srgbClr val="E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87044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文件：img4/final/m3.jpg（1240×1240）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79108"/>
            <a:ext cx="1045433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一个案例 · 十张图 · 1688 标准套图序列 ｜ 数据为示例复盘口径（非平台真实数据）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57910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4 张 · 好评图 · 第三人称背书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3017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SLOT 4/10 · 推转化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" y="1197864"/>
            <a:ext cx="4919472" cy="4919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84632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23560" y="1234440"/>
            <a:ext cx="6126480" cy="3520440"/>
          </a:xfrm>
          <a:prstGeom prst="roundRect">
            <a:avLst>
              <a:gd name="adj" fmla="val 12000"/>
            </a:avLst>
          </a:prstGeom>
          <a:solidFill>
            <a:srgbClr val="FFF9F3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4173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设计说明（本图为什么这么画）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874519"/>
            <a:ext cx="55778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三买家卡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复购客/礼品客/试单客分层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星级+身份+已购规格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可信三件套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全部脱敏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演示口径，不映射真实买家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4892040"/>
            <a:ext cx="6126480" cy="914400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502920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投放效果（示例复盘口径）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535838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D9BE"/>
                </a:solidFill>
                <a:latin typeface="Microsoft YaHei"/>
                <a:ea typeface="Microsoft YaHei"/>
                <a:cs typeface="Microsoft YaHei"/>
              </a:rPr>
              <a:t>下单转化 +2.2 pct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11384280" cy="18288"/>
          </a:xfrm>
          <a:prstGeom prst="rect">
            <a:avLst/>
          </a:prstGeom>
          <a:solidFill>
            <a:srgbClr val="E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87044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文件：img4/final/m4.jpg（1240×1240）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79108"/>
            <a:ext cx="1045433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一个案例 · 十张图 · 1688 标准套图序列 ｜ 数据为示例复盘口径（非平台真实数据）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57910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5 张 · 定制服务图 · 接小单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3017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SLOT 5/10 · 拓询盘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" y="1197864"/>
            <a:ext cx="4919472" cy="4919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84632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23560" y="1234440"/>
            <a:ext cx="6126480" cy="3520440"/>
          </a:xfrm>
          <a:prstGeom prst="roundRect">
            <a:avLst>
              <a:gd name="adj" fmla="val 12000"/>
            </a:avLst>
          </a:prstGeom>
          <a:solidFill>
            <a:srgbClr val="FFF9F3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4173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设计说明（本图为什么这么画）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874519"/>
            <a:ext cx="55778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设计师工作台底图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“有人替你出效果”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四步流程条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发图»出稿»打样»量产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起订角标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48 只起订 + 贴牌可谈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4892040"/>
            <a:ext cx="6126480" cy="914400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502920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投放效果（示例复盘口径）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535838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D9BE"/>
                </a:solidFill>
                <a:latin typeface="Microsoft YaHei"/>
                <a:ea typeface="Microsoft YaHei"/>
                <a:cs typeface="Microsoft YaHei"/>
              </a:rPr>
              <a:t>定制询盘占比 31%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11384280" cy="18288"/>
          </a:xfrm>
          <a:prstGeom prst="rect">
            <a:avLst/>
          </a:prstGeom>
          <a:solidFill>
            <a:srgbClr val="E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87044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文件：img4/final/m5.jpg（1240×1240）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79108"/>
            <a:ext cx="1045433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一个案例 · 十张图 · 1688 标准套图序列 ｜ 数据为示例复盘口径（非平台真实数据）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57910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6 张 · 使用效果 · 握感实测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3017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SLOT 6/10 · 破顾虑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" y="1197864"/>
            <a:ext cx="4919472" cy="4919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84632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23560" y="1234440"/>
            <a:ext cx="6126480" cy="3520440"/>
          </a:xfrm>
          <a:prstGeom prst="roundRect">
            <a:avLst>
              <a:gd name="adj" fmla="val 12000"/>
            </a:avLst>
          </a:prstGeom>
          <a:solidFill>
            <a:srgbClr val="FFF9F3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4173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设计说明（本图为什么这么画）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874519"/>
            <a:ext cx="55778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薄胎轻瓷握持画面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一杯正好的容量感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右侧 3 步竖排条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温杯»注入»上手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耐久兜底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机洗 1000 次釉色如新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4892040"/>
            <a:ext cx="6126480" cy="914400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502920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投放效果（示例复盘口径）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535838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D9BE"/>
                </a:solidFill>
                <a:latin typeface="Microsoft YaHei"/>
                <a:ea typeface="Microsoft YaHei"/>
                <a:cs typeface="Microsoft YaHei"/>
              </a:rPr>
              <a:t>使用类差评 -37%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11384280" cy="18288"/>
          </a:xfrm>
          <a:prstGeom prst="rect">
            <a:avLst/>
          </a:prstGeom>
          <a:solidFill>
            <a:srgbClr val="E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87044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文件：img4/final/m6.jpg（1240×1240）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79108"/>
            <a:ext cx="1045433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一个案例 · 十张图 · 1688 标准套图序列 ｜ 数据为示例复盘口径（非平台真实数据）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57910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7 张 · 场景图 · 种草代入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3017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SLOT 7/10 · 促分享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" y="1197864"/>
            <a:ext cx="4919472" cy="4919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84632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23560" y="1234440"/>
            <a:ext cx="6126480" cy="3520440"/>
          </a:xfrm>
          <a:prstGeom prst="roundRect">
            <a:avLst>
              <a:gd name="adj" fmla="val 12000"/>
            </a:avLst>
          </a:prstGeom>
          <a:solidFill>
            <a:srgbClr val="FFF9F3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4173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设计说明（本图为什么这么画）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874519"/>
            <a:ext cx="55778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晨光茶几场景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“一人食也有仪式感”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底栏场景清单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早餐/办公/下午茶/阅读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容量话术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350ml=一杯拿铁刚刚好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4892040"/>
            <a:ext cx="6126480" cy="914400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502920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投放效果（示例复盘口径）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535838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D9BE"/>
                </a:solidFill>
                <a:latin typeface="Microsoft YaHei"/>
                <a:ea typeface="Microsoft YaHei"/>
                <a:cs typeface="Microsoft YaHei"/>
              </a:rPr>
              <a:t>收藏率 +38%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11384280" cy="18288"/>
          </a:xfrm>
          <a:prstGeom prst="rect">
            <a:avLst/>
          </a:prstGeom>
          <a:solidFill>
            <a:srgbClr val="E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87044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文件：img4/final/m7.jpg（1240×1240）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79108"/>
            <a:ext cx="1045433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一个案例 · 十张图 · 1688 标准套图序列 ｜ 数据为示例复盘口径（非平台真实数据）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57910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8 张 · 核心卖点 · 薄胎轻瓷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3017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SLOT 8/10 · 做钩子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" y="1197864"/>
            <a:ext cx="4919472" cy="4919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84632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23560" y="1234440"/>
            <a:ext cx="6126480" cy="3520440"/>
          </a:xfrm>
          <a:prstGeom prst="roundRect">
            <a:avLst>
              <a:gd name="adj" fmla="val 12000"/>
            </a:avLst>
          </a:prstGeom>
          <a:solidFill>
            <a:srgbClr val="FFF9F3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4173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设计说明（本图为什么这么画）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874519"/>
            <a:ext cx="55778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局部放大裁切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薄胎=可视化差异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三条卖点 pill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克重/指纹/薄胎透釉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轻与质感兼得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礼品复购钩子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4892040"/>
            <a:ext cx="6126480" cy="914400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502920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投放效果（示例复盘口径）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535838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D9BE"/>
                </a:solidFill>
                <a:latin typeface="Microsoft YaHei"/>
                <a:ea typeface="Microsoft YaHei"/>
                <a:cs typeface="Microsoft YaHei"/>
              </a:rPr>
              <a:t>关联加购 1.8 件/单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11384280" cy="18288"/>
          </a:xfrm>
          <a:prstGeom prst="rect">
            <a:avLst/>
          </a:prstGeom>
          <a:solidFill>
            <a:srgbClr val="E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87044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文件：img4/final/m8.jpg（1240×1240）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79108"/>
            <a:ext cx="1045433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一个案例 · 十张图 · 1688 标准套图序列 ｜ 数据为示例复盘口径（非平台真实数据）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57910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9 张 · 规格参数 · 30 秒决策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3017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SLOT 9/10 · 助下单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" y="1197864"/>
            <a:ext cx="4919472" cy="4919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84632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23560" y="1234440"/>
            <a:ext cx="6126480" cy="3520440"/>
          </a:xfrm>
          <a:prstGeom prst="roundRect">
            <a:avLst>
              <a:gd name="adj" fmla="val 12000"/>
            </a:avLst>
          </a:prstGeom>
          <a:solidFill>
            <a:srgbClr val="FFF9F3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4173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设计说明（本图为什么这么画）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874519"/>
            <a:ext cx="55778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左图右表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釉面细看承图，表格承数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九行参数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B 端关心项全在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表头深蓝字条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扫读友好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4892040"/>
            <a:ext cx="6126480" cy="914400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502920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投放效果（示例复盘口径）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535838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D9BE"/>
                </a:solidFill>
                <a:latin typeface="Microsoft YaHei"/>
                <a:ea typeface="Microsoft YaHei"/>
                <a:cs typeface="Microsoft YaHei"/>
              </a:rPr>
              <a:t>询单前自助下单率 58%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11384280" cy="18288"/>
          </a:xfrm>
          <a:prstGeom prst="rect">
            <a:avLst/>
          </a:prstGeom>
          <a:solidFill>
            <a:srgbClr val="E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87044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文件：img4/final/m9.jpg（1240×1240）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79108"/>
            <a:ext cx="1045433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一个案例 · 十张图 · 1688 标准套图序列 ｜ 数据为示例复盘口径（非平台真实数据）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57910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10 张 · 包装展示 · 最后一公里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3017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SLOT 10/10 · 促成交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" y="1197864"/>
            <a:ext cx="4919472" cy="4919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84632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23560" y="1234440"/>
            <a:ext cx="6126480" cy="3520440"/>
          </a:xfrm>
          <a:prstGeom prst="roundRect">
            <a:avLst>
              <a:gd name="adj" fmla="val 12000"/>
            </a:avLst>
          </a:prstGeom>
          <a:solidFill>
            <a:srgbClr val="FFF9F3"/>
          </a:solidFill>
          <a:ln w="12700">
            <a:solidFill>
              <a:srgbClr val="E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4173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设计说明（本图为什么这么画）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874519"/>
            <a:ext cx="55778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礼盒开箱实物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“到手即赠礼”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1">
                <a:solidFill>
                  <a:srgbClr val="25324B"/>
                </a:solidFill>
                <a:latin typeface="Microsoft YaHei"/>
                <a:ea typeface="Microsoft YaHei"/>
                <a:cs typeface="Microsoft YaHei"/>
              </a:rPr>
              <a:t>四保障 pill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 防震/彩盒/贺卡/赔付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>
                <a:solidFill>
                  <a:srgbClr val="F8762E"/>
                </a:solidFill>
                <a:latin typeface="Microsoft YaHei"/>
                <a:ea typeface="Microsoft YaHei"/>
                <a:cs typeface="Microsoft YaHei"/>
              </a:rPr>
              <a:t>› </a:t>
            </a:r>
            <a:r>
              <a:rPr sz="1150" b="0">
                <a:solidFill>
                  <a:srgbClr val="2B2F36"/>
                </a:solidFill>
                <a:latin typeface="Microsoft YaHei"/>
                <a:ea typeface="Microsoft YaHei"/>
                <a:cs typeface="Microsoft YaHei"/>
              </a:rPr>
              <a:t>售后话术降低决策成本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4892040"/>
            <a:ext cx="6126480" cy="914400"/>
          </a:xfrm>
          <a:prstGeom prst="roundRect">
            <a:avLst>
              <a:gd name="adj" fmla="val 12000"/>
            </a:avLst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502920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9C2D4"/>
                </a:solidFill>
                <a:latin typeface="Microsoft YaHei"/>
                <a:ea typeface="Microsoft YaHei"/>
                <a:cs typeface="Microsoft YaHei"/>
              </a:rPr>
              <a:t>投放效果（示例复盘口径）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535838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D9BE"/>
                </a:solidFill>
                <a:latin typeface="Microsoft YaHei"/>
                <a:ea typeface="Microsoft YaHei"/>
                <a:cs typeface="Microsoft YaHei"/>
              </a:rPr>
              <a:t>团购咨询 +23%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11384280" cy="18288"/>
          </a:xfrm>
          <a:prstGeom prst="rect">
            <a:avLst/>
          </a:prstGeom>
          <a:solidFill>
            <a:srgbClr val="E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87044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文件：img4/final/m10.jpg（1240×1240）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79108"/>
            <a:ext cx="1045433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一个案例 · 十张图 · 1688 标准套图序列 ｜ 数据为示例复盘口径（非平台真实数据）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57910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A8F98"/>
                </a:solidFill>
                <a:latin typeface="Microsoft YaHei"/>
                <a:ea typeface="Microsoft YaHei"/>
                <a:cs typeface="Microsoft YaHe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8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371600"/>
            <a:ext cx="9784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一套图讲完一条销售动线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D7DDE8"/>
                </a:solidFill>
                <a:latin typeface="Microsoft YaHei"/>
                <a:ea typeface="Microsoft YaHei"/>
                <a:cs typeface="Microsoft YaHei"/>
              </a:rPr>
              <a:t>点击进来的是流量，留下来的是信任，下得了单的叫动线。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65960" y="3291840"/>
            <a:ext cx="8229600" cy="1920240"/>
          </a:xfrm>
          <a:prstGeom prst="roundRect">
            <a:avLst>
              <a:gd name="adj" fmla="val 12000"/>
            </a:avLst>
          </a:prstGeom>
          <a:solidFill>
            <a:srgbClr val="2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40280" y="3474720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D9BE"/>
                </a:solidFill>
                <a:latin typeface="Microsoft YaHei"/>
                <a:ea typeface="Microsoft YaHei"/>
                <a:cs typeface="Microsoft YaHei"/>
              </a:rPr>
              <a:t>本套产出清单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3913632"/>
            <a:ext cx="7680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 张终稿（1240×1240，img4/final/m1-m10.png）｜ 本册 PPT + PDF ｜ 同风格可一键再产：换品类只换底图与卖点文案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532120"/>
            <a:ext cx="9784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8A94A8"/>
                </a:solidFill>
                <a:latin typeface="Microsoft YaHei"/>
                <a:ea typeface="Microsoft YaHei"/>
                <a:cs typeface="Microsoft YaHei"/>
              </a:rPr>
              <a:t>素材构成：底图全部为 AI 生成商品示意图（素色影棚口径，非真实商品拍摄）；全部经营数据为示例复盘口径。</a:t>
            </a:r>
          </a:p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8A94A8"/>
                </a:solidFill>
                <a:latin typeface="Microsoft YaHei"/>
                <a:ea typeface="Microsoft YaHei"/>
                <a:cs typeface="Microsoft YaHei"/>
              </a:rPr>
              <a:t>对外商用请将原始图替换为自有拍摄素材，并按平台规则做 AI 生成内容标注。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