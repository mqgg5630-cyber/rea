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image" Target="../media/image6.jpg"/><Relationship Id="rId7" Type="http://schemas.openxmlformats.org/officeDocument/2006/relationships/image" Target="../media/image7.jpg"/><Relationship Id="rId8" Type="http://schemas.openxmlformats.org/officeDocument/2006/relationships/image" Target="../media/image8.jpg"/><Relationship Id="rId9" Type="http://schemas.openxmlformats.org/officeDocument/2006/relationships/image" Target="../media/image9.jpg"/><Relationship Id="rId10" Type="http://schemas.openxmlformats.org/officeDocument/2006/relationships/image" Target="../media/image10.jpg"/><Relationship Id="rId11" Type="http://schemas.openxmlformats.org/officeDocument/2006/relationships/image" Target="../media/image1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15784" y="786384"/>
            <a:ext cx="4279392" cy="427939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hoe_her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822960"/>
            <a:ext cx="4206240" cy="4206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868680"/>
            <a:ext cx="6583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ONE CASE · TEN IMAGES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667512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一个案例 · 十张图</a:t>
            </a:r>
          </a:p>
          <a:p>
            <a:pPr algn="l">
              <a:lnSpc>
                <a:spcPct val="112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1688 标准套图序列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46120"/>
            <a:ext cx="6583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案例：果趣星礼 · DIY 鞋花 12 枚套装（源头工厂白牌）</a:t>
            </a:r>
          </a:p>
          <a:p>
            <a:pPr algn="l">
              <a:lnSpc>
                <a:spcPct val="130000"/>
              </a:lnSpc>
            </a:pPr>
            <a:r>
              <a:rPr sz="125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图片：AI 重设计底图 + 全中文矢量文字标注（图内零错字）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343400"/>
            <a:ext cx="10607040" cy="91440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4553712"/>
            <a:ext cx="10149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十图序列（1688 详情/主图通用货架语法）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56048"/>
            <a:ext cx="10149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主图 · 2 细节 · 3 实力 · 4 好评 · 5 定制 · 6 使用效果 · 7 场景 · 8 核心卖点 · 9 规格参数 · 10 包装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6235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每张图都有明确职责：抢点击 / 答疑虑 / 建信任 / 推转化 / 拓询盘 / 破顾虑 / 促分享 / 做钩子 / 助下单 / 促成交。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550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全部数据为示例复盘口径 ｜ 素材构成与合规见封底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十张图总览：一套图就是一个销售动线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ALL 10 AT A GLANCE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3" y="1307592"/>
            <a:ext cx="1828800" cy="18288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11480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 主图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抢点击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24912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m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6936" y="1307592"/>
            <a:ext cx="1828800" cy="18288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724912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8064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 细节图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答疑虑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38344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m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0368" y="1307592"/>
            <a:ext cx="1828800" cy="1828800"/>
          </a:xfrm>
          <a:prstGeom prst="rect">
            <a:avLst/>
          </a:prstGeom>
        </p:spPr>
      </p:pic>
      <p:sp>
        <p:nvSpPr>
          <p:cNvPr id="16" name="Rounded Rectangle 15"/>
          <p:cNvSpPr/>
          <p:nvPr/>
        </p:nvSpPr>
        <p:spPr>
          <a:xfrm>
            <a:off x="5038344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11496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 实力图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建信任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51775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m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43800" y="1307592"/>
            <a:ext cx="1828800" cy="1828800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7351775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24927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 好评图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推转化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5207" y="1234440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m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7231" y="1307592"/>
            <a:ext cx="1828800" cy="182880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665207" y="3209544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3273552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 定制服务图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拓询盘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m6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3503" y="3995928"/>
            <a:ext cx="1828800" cy="182880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411480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 使用效果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破顾虑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24912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m7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16936" y="3995928"/>
            <a:ext cx="1828800" cy="182880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2724912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98064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 场景图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促分享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38344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m8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30368" y="3995928"/>
            <a:ext cx="1828800" cy="1828800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5038344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11496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 核心卖点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做钩子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51775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m9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43800" y="3995928"/>
            <a:ext cx="1828800" cy="1828800"/>
          </a:xfrm>
          <a:prstGeom prst="rect">
            <a:avLst/>
          </a:prstGeom>
        </p:spPr>
      </p:pic>
      <p:sp>
        <p:nvSpPr>
          <p:cNvPr id="40" name="Rounded Rectangle 39"/>
          <p:cNvSpPr/>
          <p:nvPr/>
        </p:nvSpPr>
        <p:spPr>
          <a:xfrm>
            <a:off x="7351775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24927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 规格参数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助下单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665207" y="3922776"/>
            <a:ext cx="2212848" cy="24871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m10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57231" y="3995928"/>
            <a:ext cx="1828800" cy="18288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665207" y="5897880"/>
            <a:ext cx="2212848" cy="512064"/>
          </a:xfrm>
          <a:prstGeom prst="roundRect">
            <a:avLst>
              <a:gd name="adj" fmla="val 12000"/>
            </a:avLst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738359" y="5961888"/>
            <a:ext cx="2066543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 包装展示</a:t>
            </a:r>
          </a:p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促成交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 张 · 主图 · 货架第一眼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1/10 · 抢点击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保主体+换影棚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网络样张直出暖橙 hero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大字价格锚点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¥12.9/套 与“单枚约1元”双锚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四角信息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主题/卖点/价格/履约各占一角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点击率 CTR 1.1% » 5.2%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文件：img3/final/m1.jpg（1240×1240）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2 张 · 细节图 · 所见即所得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2/10 · 答疑虑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四系列全家福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一次看全 48 枚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引出线 callout×4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材质/不重样/圆角/夜光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图上文字全部为矢量排版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杜绝 AI 错字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详情页跳失率 -18%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文件：img3/final/m2.jpg（1240×1240）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3 张 · 实力图 · 工厂信任状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3/10 · 建信任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产线实景压暗垫底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真实感优先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四数据卡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产能/打样/外贸/认证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批发客决策链：先信厂，再谈货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询单量 +32%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文件：img3/final/m3.jpg（1240×1240）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4 张 · 好评图 · 第三人称背书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4/10 · 推转化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三买家卡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复购客/分销商/试单客分层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星级+身份标签+已购规格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可信度三件套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全部脱敏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演示口径，不映射真实买家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下单转化 +1.9 pct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文件：img3/final/m4.jpg（1240×1240）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5 张 · 定制服务图 · 接小单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5/10 · 拓询盘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设计师工作台底图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“有人替你画图”的即视感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四步流程条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需求»建模»打样»量产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起订角标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50 件起订 + 贴牌可谈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定制询盘占比 27%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文件：img3/final/m5.jpg（1240×1240）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6 张 · 使用效果 · 零工具上手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6/10 · 破顾虑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微距按扣瞬间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“咔哒”感画面化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右侧 3 步竖排条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对准»按压»完成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耐久数据兜底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拆装 500 次不松脱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使用类差评 -41%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文件：img3/final/m6.jpg（1240×1240）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7 张 · 场景图 · 种草代入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7/10 · 促分享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三人三鞋同框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映射“人手一双不撞款”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底栏场景清单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宿舍/露营/沙滩/市集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风格话术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一双白鞋=12 种风格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收藏率 +44%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文件：img3/final/m7.jpg（1240×1240）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8 张 · 核心卖点 · 夜光记忆点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8/10 · 做钩子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暗光实拍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夜光款=可视化差异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三条卖点 pill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夜光时长/不重款/母婴级口径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关灯即惊喜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天然的家人复购钩子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关联加购 2.1 件/单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文件：img3/final/m8.jpg（1240×1240）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9 张 · 规格参数 · 30 秒决策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9/10 · 助下单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左图右表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SKU 色卡承图，表格承数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九行参数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B 端关心项（起订/时效/定制）全在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表头深蓝字条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扫读友好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询单前自助下单率 61%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文件：img3/final/m9.jpg（1240×1240）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41248"/>
            <a:ext cx="12191695" cy="45720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55448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第 10 张 · 包装展示 · 最后一公里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3017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SLOT 10/10 · 促成交</a:t>
            </a:r>
          </a:p>
        </p:txBody>
      </p:sp>
      <p:sp>
        <p:nvSpPr>
          <p:cNvPr id="6" name="Rectangle 5"/>
          <p:cNvSpPr/>
          <p:nvPr/>
        </p:nvSpPr>
        <p:spPr>
          <a:xfrm>
            <a:off x="420624" y="1197864"/>
            <a:ext cx="4919472" cy="4919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4846320" cy="4846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23560" y="1234440"/>
            <a:ext cx="6126480" cy="3520440"/>
          </a:xfrm>
          <a:prstGeom prst="roundRect">
            <a:avLst>
              <a:gd name="adj" fmla="val 12000"/>
            </a:avLst>
          </a:prstGeom>
          <a:solidFill>
            <a:srgbClr val="FFF9F3"/>
          </a:solidFill>
          <a:ln w="12700">
            <a:solidFill>
              <a:srgbClr val="E8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70448" y="141732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设计说明（本图为什么这么画）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70448" y="1874519"/>
            <a:ext cx="557784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礼盒橱窗实物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“开箱即体面”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四保障 pill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塑封/彩盒/瓦楞/贴牌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150">
                <a:solidFill>
                  <a:srgbClr val="F8762E"/>
                </a:solidFill>
                <a:latin typeface="Microsoft YaHei"/>
                <a:ea typeface="Microsoft YaHei"/>
                <a:cs typeface="Microsoft YaHei"/>
              </a:rPr>
              <a:t>› </a:t>
            </a:r>
            <a:r>
              <a:rPr sz="1150" b="1">
                <a:solidFill>
                  <a:srgbClr val="25324B"/>
                </a:solidFill>
                <a:latin typeface="Microsoft YaHei"/>
                <a:ea typeface="Microsoft YaHei"/>
                <a:cs typeface="Microsoft YaHei"/>
              </a:rPr>
              <a:t>团购场景话术</a:t>
            </a:r>
            <a:r>
              <a:rPr sz="1150" b="0">
                <a:solidFill>
                  <a:srgbClr val="2B2F36"/>
                </a:solidFill>
                <a:latin typeface="Microsoft YaHei"/>
                <a:ea typeface="Microsoft YaHei"/>
                <a:cs typeface="Microsoft YaHei"/>
              </a:rPr>
              <a:t> 贺卡定制接 B 端大单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489204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0448" y="5029200"/>
            <a:ext cx="4206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B9C2D4"/>
                </a:solidFill>
                <a:latin typeface="Microsoft YaHei"/>
                <a:ea typeface="Microsoft YaHei"/>
                <a:cs typeface="Microsoft YaHei"/>
              </a:rPr>
              <a:t>投放效果（示例复盘口径）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5358384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团购咨询 +19%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263640"/>
            <a:ext cx="11384280" cy="18288"/>
          </a:xfrm>
          <a:prstGeom prst="rect">
            <a:avLst/>
          </a:prstGeom>
          <a:solidFill>
            <a:srgbClr val="E8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5870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文件：img3/final/m10.jpg（1240×1240）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F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6579108"/>
            <a:ext cx="1045433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一个案例 · 十张图 · 1688 标准套图序列 ｜ 数据为示例复盘口径（非平台真实数据）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57255" y="6579108"/>
            <a:ext cx="868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A8F98"/>
                </a:solidFill>
                <a:latin typeface="Microsoft YaHei"/>
                <a:ea typeface="Microsoft YaHei"/>
                <a:cs typeface="Microsoft YaHei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532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F876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371600"/>
            <a:ext cx="97840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一套图讲完一条销售动线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560320"/>
            <a:ext cx="9784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D7DDE8"/>
                </a:solidFill>
                <a:latin typeface="Microsoft YaHei"/>
                <a:ea typeface="Microsoft YaHei"/>
                <a:cs typeface="Microsoft YaHei"/>
              </a:rPr>
              <a:t>点击进来的是流量，留下来的是信任，下得了单的叫动线。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65960" y="3291840"/>
            <a:ext cx="8229600" cy="1920240"/>
          </a:xfrm>
          <a:prstGeom prst="roundRect">
            <a:avLst>
              <a:gd name="adj" fmla="val 12000"/>
            </a:avLst>
          </a:prstGeom>
          <a:solidFill>
            <a:srgbClr val="2E3D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40280" y="3474720"/>
            <a:ext cx="76809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D9BE"/>
                </a:solidFill>
                <a:latin typeface="Microsoft YaHei"/>
                <a:ea typeface="Microsoft YaHei"/>
                <a:cs typeface="Microsoft YaHei"/>
              </a:rPr>
              <a:t>本套产出清单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3913632"/>
            <a:ext cx="768096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张终稿（1240×1240，img3/final/m1-m10.png）｜ 本册 PPT + PDF ｜ 同风格可一键再产：换品类只换底图与卖点文案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5532120"/>
            <a:ext cx="97840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素材构成：产品底图为网络公开样张（eBay/Amazon 商品页，经 AI 重设计）与 AI 生成素材；全部经营数据为示例复盘口径。</a:t>
            </a:r>
          </a:p>
          <a:p>
            <a:pPr algn="ctr">
              <a:lnSpc>
                <a:spcPct val="135000"/>
              </a:lnSpc>
            </a:pPr>
            <a:r>
              <a:rPr sz="1000" b="0">
                <a:solidFill>
                  <a:srgbClr val="8A94A8"/>
                </a:solidFill>
                <a:latin typeface="Microsoft YaHei"/>
                <a:ea typeface="Microsoft YaHei"/>
                <a:cs typeface="Microsoft YaHei"/>
              </a:rPr>
              <a:t>对外商用请将原始图替换为自有拍摄素材，并按平台规则做 AI 生成内容标注。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