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06640" y="923544"/>
            <a:ext cx="4251959" cy="236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imag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969264"/>
            <a:ext cx="4160520" cy="2269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93268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CASE REPLAY · 1688 源头工厂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爆款案例复刻</a:t>
            </a:r>
          </a:p>
          <a:p>
            <a:pPr algn="l">
              <a:lnSpc>
                <a:spcPct val="112000"/>
              </a:lnSpc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数据驱动选品开款 × AI 视觉优化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1688生意助手 + 提示词 + 蓝海选品技能（蓝海选品分析）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专家 · 设计专家 + 自建美工智能体 Skill » 主图 / 详情 / 首页 / 视频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92040"/>
            <a:ext cx="6035040" cy="1051560"/>
          </a:xfrm>
          <a:prstGeom prst="roundRect">
            <a:avLst>
              <a:gd name="adj" fmla="val 12000"/>
            </a:avLst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4748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案例商品：果趣星礼 · DIY 鞋花 12 枚主题套装（洞洞鞋配饰）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50468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数据驱动精准选品，提升爆款成功率，缩短研发周期 ｜ AI 辅助高效作图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09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8"/>
                </a:solidFill>
                <a:latin typeface="Microsoft YaHei"/>
                <a:ea typeface="Microsoft YaHei"/>
                <a:cs typeface="Microsoft YaHei"/>
              </a:rPr>
              <a:t>复刻基于 arena/84877cdd-rea 分支 rounds 12–13 逆向证据 ｜ 全部数据为示例复盘口径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案例一页看懂：从选品到爆款的全链路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697480" cy="301752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四维选品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488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趋势选品 · 热门关键词</a:t>
            </a:r>
          </a:p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竞品选品 · 下游选品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8444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蓝海选品分析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371600"/>
            <a:ext cx="2697480" cy="301752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5848" y="137160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4447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三法开款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488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改款（快）· 创款（中）</a:t>
            </a:r>
          </a:p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开款（稳）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342900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358444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设计专家 Agent 出系列稿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0216" y="1371600"/>
            <a:ext cx="2697480" cy="301752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137160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4447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视觉四件套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1488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主图 · 详情页</a:t>
            </a:r>
          </a:p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首页 · 短视频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4536" y="342900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58444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自建美工智能体批量产出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44584" y="1371600"/>
            <a:ext cx="2697480" cy="301752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44584" y="137160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584" y="14447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数据复盘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9176" y="21488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CTR / 转化 / 成本 / 周期</a:t>
            </a:r>
          </a:p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回灌选品模型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342900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8904" y="3584448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周报工具滚动复盘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09160"/>
            <a:ext cx="11338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一句话结论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用“数据选品 + AI 作图”两条流水线，把每个新品的决策从“拍脑袋”变成“可复用的临床实验”。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全程选用的工具与上一轮复刻的 Accio Work 架构一一对应（生意助手/技能/设计专家/报表工具），可工程化落地。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本套打法以 30 天为一个“上新细胞周期”：第 1 周选品开款，第 2 周视觉上线，第 3-4 周放量复盘。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复刻技术栈：本案例使用的工具链来自前一阶段逆向成果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STACK MAP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113842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303520"/>
                <a:gridCol w="42519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案例环节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复刻组件（证据来源：results/accio/*）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在案例中的角色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数据采集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RPA DSL 探针 agentwork.rpa.atomic.v1（五平台身份/画像 DSL）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只读采集搜索指数/竞品价格带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选品分析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蓝海选品分析 Skill（newton-skill-workflow-v1 技能范式）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供需比建模 + 蓝海象限定位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店铺数据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ecommerce-data 工具组（competitor_report / inventory-products）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竞品拆解、份额与动销跟踪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视觉生产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· 设计专家 SubAgent（maxRounds 制编排）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主图/详情/首页/视频稿产出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经营复盘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weekly_report + dashboard_report 报表工具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周度复盘、爆款成功率回算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托管执行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浏览器托管（patchright + 店铺 profile 分区）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素材上架与 A/B 投放（人工确认）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12064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方法论来源：deliverable/ACCIO_REPLICATION.md 第 3/5/6/9 节（Agent 编排、RPA 子系统、MCP 生态、实施映射）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商家背景与战役目标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CONTEXT &amp;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394960" cy="461772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商家画像（虚构示例，产业带有代表性）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浙江台州鞋配产业带源头工厂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，白牌，月产能 30 万套鞋花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渠道结构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：1688 批发为主，淘宝/抖音分销店 4 家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痛点1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：跟款慢半拍，爆款窗口常被错过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痛点2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：依赖外包美工，单套视觉 3-5 天、¥2,000+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痛点3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：上新即压现货，试错成本高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约束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：先小单快反，爆款后再深备料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188720"/>
            <a:ext cx="5669280" cy="461772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本次战役 KPI（30 天口径）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965960"/>
          <a:ext cx="51206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17320"/>
                <a:gridCol w="160020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目标项</a:t>
                      </a:r>
                    </a:p>
                  </a:txBody>
                  <a:tcPr marL="64008" marR="45720" marT="18288" marB="18288" anchor="ctr">
                    <a:solidFill>
                      <a:srgbClr val="C257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</a:t>
                      </a:r>
                    </a:p>
                  </a:txBody>
                  <a:tcPr marL="64008" marR="45720" marT="18288" marB="18288" anchor="ctr">
                    <a:solidFill>
                      <a:srgbClr val="C257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64008" marR="45720" marT="18288" marB="18288" anchor="ctr">
                    <a:solidFill>
                      <a:srgbClr val="C2571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选品立项周期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天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天内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整套视觉成本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¥3,200/套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¥200/套内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主图点击率 CTR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4.5%+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打样命中率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~40%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70%+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首月动销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4,000 件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万件+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48920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口径说明：基线取该厂近 6 个月 11 次上新的中位数；目标值由“工具替代人工 + 数据过滤噪音”的预估弹性给出。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选品1 · 趋势选品：和大盘需求同频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TREND RADAR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" y="1197864"/>
            <a:ext cx="6748272" cy="345908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6675120" cy="33859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234440"/>
            <a:ext cx="4343400" cy="3346704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怎么读这张曲线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74519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5月起加速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：“洞门改造”内容热潮传导，暑期+开学季双驱动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同比 +186%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：同一品类连续三年低位后首次放量（示例）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供给滞后 1 个季度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：上游现货结构仍以单枚散货为主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窗口期判断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：趋势分位 &gt; 80 且供给侧未跟进 » 立项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892040"/>
            <a:ext cx="11384280" cy="91440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4748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工程要点：趋势数据由 RPA 探针按周只读采集（agentwork.rpa.atomic.v1 » readText/queryAll），写入选品看板；超阈自动建立候选款档案。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选品2 · 热门关键词选品：用词根增速发现组合装溢价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KEYWORD MINING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672084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188720"/>
                <a:gridCol w="13258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搜索词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月搜索指数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环比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机会度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洞洞鞋鞋花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18.6万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+64%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级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鞋花diy套装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9.2万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+118%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级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crocs鞋扣平替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4.5万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+89%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级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鞋花 水果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3.1万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+142%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级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鞋花批发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12.8万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+23%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级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鞋扣 可拆卸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2.7万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+57%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级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188720"/>
            <a:ext cx="4343400" cy="356616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三个判断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828800"/>
            <a:ext cx="393192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词根“diy套装/水果”增速 远超 品类均值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：组合装+主题化有溢价空间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“平替”类词占比抬升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：白牌承接窗口，品牌词汇不做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批发词盘稳定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：B 端复购基本盘，主详情页需给阶梯价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禁忌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：不蹭 IP 形象词，规避版权风险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074920"/>
            <a:ext cx="6720840" cy="77724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Skill 输入：种子词 + 类目；输出：词簇 × 增速 × 竞争度三维表（每周自动刷新）。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选品3 · 竞品选品：在价格带空档里造差异化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COMPETITOR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" y="1152144"/>
            <a:ext cx="6382512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ice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6309360" cy="3200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434840"/>
          <a:ext cx="61721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60120"/>
                <a:gridCol w="777240"/>
                <a:gridCol w="822960"/>
                <a:gridCol w="187451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形态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客单价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月销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短板（机会点）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店 · 单枚散装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散装自选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¥9.9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万+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主图素面平铺，无主题心智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店 · 盲盒款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盲盒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¥15.9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万+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客诉集中于“重复率高”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店 · 主题套装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枚套装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¥12.9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 万+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详情页薄弱，材质背书缺失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86600" y="1188720"/>
            <a:ext cx="4709160" cy="461772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机会定义（来自竞品拆解）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42519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价格空档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：12.9-15.9 元带供给 16% &lt; 需求占比，可主销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形态缺憾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：散装有量无心智、盲盒有客诉、套装弱详情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打法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：主题明确 + 12 枚不重复 + 2 枚夜光隐藏款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反制点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：详情页补材质检测背书，打 B 端信任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4709160"/>
            <a:ext cx="4709160" cy="109728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84632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工具：ecommerce-data » query-competitors / inventory-products；报告由 competitor_report 生成。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选品4 · 下游选品：让内容场给批发场打前站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DOWNSTREAM ECHO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7040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828800"/>
                <a:gridCol w="164592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下游场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信号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动销变化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抖音 #洞门改造 话题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内容种草先行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42.3亿次播放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周环比 +21%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小红书 “鞋花diy”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笔记互动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36万+ 笔记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互动量 +38%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淘宝 凉鞋配饰关联词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搜索结构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进类目 TOP20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新入榜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1688 “鞋花”找货指数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采购侧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找货指数 7.4万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+92%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188720"/>
            <a:ext cx="4023360" cy="356616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1371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下游反哺结论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828800"/>
            <a:ext cx="36576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内容先行、电商滞后 4-6 周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：现在是上架窗口期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热门玩法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：整套跟买 + DIY 混搭 + 夜光改造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反哺开款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：套装做“主题系列 + 可拆售散装”双链接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内容场素材</a:t>
            </a:r>
            <a:r>
              <a:rPr sz="11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：短视频与主图同源产出，一键双投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074920"/>
            <a:ext cx="11384280" cy="77724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口径说明：播放/笔记/指数均为示例复盘数据；真实接入后由 RPA 探针+开放平台数据源替换，探针频率按平台规则限速。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蓝海交叉验证：把四维信号压成一个立项决策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BLUE-OCEAN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" y="1152144"/>
            <a:ext cx="6062472" cy="31112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oc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5989320" cy="303806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92824" y="1152144"/>
            <a:ext cx="5239512" cy="269376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188720"/>
            <a:ext cx="5166360" cy="26206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526280"/>
            <a:ext cx="11384280" cy="13716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8172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立项结论（示例复盘口径）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206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目标款：果趣星礼·水果主题 12 枚套装 ¥12.9（含 2 枚夜光隐藏款）｜ 梯队：引流 6 枚 ¥5.9 / 主推 12 枚 ¥12.9 / 礼盒 16 枚 ¥16.9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开款阶段 · 三法并行：改款抢时间，创款立差异，开款续命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3-WAY DEV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C25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11880" cy="530352"/>
          </a:xfrm>
          <a:prstGeom prst="roundRect">
            <a:avLst>
              <a:gd name="adj" fmla="val 12000"/>
            </a:avLst>
          </a:prstGeom>
          <a:solidFill>
            <a:srgbClr val="C25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改款 · 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现有水果模具换肤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+ 夜光料升级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周期 7 天｜成本最低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卡位引流款 6 枚装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18872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253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87952" y="1188720"/>
            <a:ext cx="3611880" cy="530352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252728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创款 · 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847088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星座 × 锦鲤 主题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原创插画 12 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76148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周期 14 天｜主推款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差异化锚点 + 隐藏款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4" y="1188720"/>
            <a:ext cx="3611880" cy="22860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1F9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64424" y="1188720"/>
            <a:ext cx="3611880" cy="530352"/>
          </a:xfrm>
          <a:prstGeom prst="roundRect">
            <a:avLst>
              <a:gd name="adj" fmla="val 12000"/>
            </a:avLst>
          </a:prstGeom>
          <a:solidFill>
            <a:srgbClr val="1F9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4" y="1252728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开款 · 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847088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糕点甜品系列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延展 SKU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761488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下月上线｜礼盒款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拉动复购与连带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" y="3666744"/>
            <a:ext cx="5193792" cy="2931183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tai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703320"/>
            <a:ext cx="5120640" cy="285803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806440" y="3703320"/>
            <a:ext cx="5989320" cy="214884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4048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设计专家 Agent 把打样周期砍到 3 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297680"/>
            <a:ext cx="5577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AI 草图 » 3D 打印快样 48h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：模具师傅只对确认稿开工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爆款基因库比对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：造型/配色对照 TOP 款特征后定稿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套装矩阵一次出齐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：图即所得（见左侧四系列托盘图）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视觉优化总览：设计专家流水线的四件套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VISUAL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2139696" cy="18288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2139696" cy="45720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43584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解析爆款基因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8308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拆解 30 张 TOP 竞品图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提炼 6 条点击规律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874519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1188720"/>
            <a:ext cx="2139696" cy="18288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24912" y="1188720"/>
            <a:ext cx="2139696" cy="45720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1243584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方向稿 ×3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78308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每套出 3 个方向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商家 10 分钟确认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1874519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188720"/>
            <a:ext cx="2139696" cy="18288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38344" y="1188720"/>
            <a:ext cx="2139696" cy="45720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8344" y="1243584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批量产出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178308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主图/详情/首页/视频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同一份风格基因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1874519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5" y="1188720"/>
            <a:ext cx="2139696" cy="18288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51775" y="1188720"/>
            <a:ext cx="2139696" cy="45720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1243584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上架即投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3" y="178308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A/B 主图双投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48h 内出胜负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1874519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65207" y="1188720"/>
            <a:ext cx="2139696" cy="182880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65207" y="1188720"/>
            <a:ext cx="2139696" cy="457200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5207" y="1243584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 复盘回灌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4935" y="178308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点击数据回流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更新基因库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11480" y="3310128"/>
          <a:ext cx="1138427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132"/>
                <a:gridCol w="3217296"/>
                <a:gridCol w="4207233"/>
                <a:gridCol w="210361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核心指标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本案例产出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承担角色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点击率 CTR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方向 × 2 版式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抢点击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详情页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停留时长 / 询单转化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屏结构 + 卖点图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推转化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首页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逛店转化 / 复购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模块重构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建信任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短视频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完播率 / 引导进店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15s 五段分镜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扩内容场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11480" y="5349240"/>
            <a:ext cx="11384280" cy="658368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6811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效率对照：传统外包一套（主图 3 张 + 详情 6 屏）¥2,000+ / 3-5 天 » AI 辅助约 ¥120 / 0.5 天，同风格一键延展首页与视频分镜。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主图优化实战：一次 A/B 的完整复刻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MAIN IMAGE A/B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243584"/>
            <a:ext cx="510235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in_image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029200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0840" y="1243584"/>
            <a:ext cx="510235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in_imag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1280160"/>
            <a:ext cx="5029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2245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优化前｜素面平铺发灰，CTR 1.8%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7416" y="42245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优化后｜场景化高饱和+留白标题区，CTR 4.6%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3" y="4517136"/>
            <a:ext cx="4279392" cy="202387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53712"/>
            <a:ext cx="4206240" cy="19507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74920" y="4572000"/>
            <a:ext cx="6720840" cy="160020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700016"/>
            <a:ext cx="6263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点击规律复用</a:t>
            </a: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：密度感 + 使用场景 + 暖色底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标题区留白</a:t>
            </a: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：给“12 枚 不重复”大字让位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48h 双投胜负</a:t>
            </a: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：赢家沉淀进爆款基因库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697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详情页优化：6 屏结构，把停留时间翻倍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DETAIL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" y="1197864"/>
            <a:ext cx="5833872" cy="328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tai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760720" cy="32152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66344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系列套装一张图讲清“主题 × 枚数 × 不重复”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34440"/>
            <a:ext cx="5303520" cy="370332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93408" y="1371600"/>
            <a:ext cx="475488" cy="402336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426464"/>
            <a:ext cx="475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1362456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S1 场景钩子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1389888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夏日+开学季代入，人群对号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3408" y="1947672"/>
            <a:ext cx="475488" cy="402336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2002536"/>
            <a:ext cx="475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1938528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S2 全览 12 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965960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主题套装一次看全（饰品级特写）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93408" y="2523744"/>
            <a:ext cx="475488" cy="402336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578608"/>
            <a:ext cx="475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51460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S3 夜光隐藏款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42032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记忆点卖点单独一屏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3408" y="3099815"/>
            <a:ext cx="475488" cy="402336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3154679"/>
            <a:ext cx="475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3090672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S4 材质安全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118103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检测报告+母婴级口径背书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3408" y="3675887"/>
            <a:ext cx="475488" cy="402336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3730751"/>
            <a:ext cx="475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3666744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S5 混搭玩法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694175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一鞋多风格，散件可补购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93408" y="4251959"/>
            <a:ext cx="475488" cy="402336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4306823"/>
            <a:ext cx="475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4242816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S6 批发政策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270247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阶梯价 + 48h 发货承诺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138928"/>
            <a:ext cx="11384280" cy="86868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285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效果（示例复盘口径）：详情页停留 23s » 47s（+104%），询单转化率 4.1% » 8.7%（+112%）；B 端客户对“材质检测”一屏的提及率最高。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首页与短视频：同一份风格基因的三次利用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HOME &amp; VIDEO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4160520" cy="4663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店铺首页 5 模块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703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1167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M1 类目秒杀位（引流款 6 枚）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24327"/>
            <a:ext cx="3703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87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761487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M2 爆款专区（3 套主推矩阵）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74135"/>
            <a:ext cx="3703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511295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M3 混批满减计算器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4"/>
            <a:ext cx="3703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2611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M4 找货订阅 / 上新日历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73752"/>
            <a:ext cx="37033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M5 验厂实拍 + 发货时效背书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2571B"/>
                </a:solidFill>
                <a:latin typeface="Microsoft YaHei"/>
                <a:ea typeface="Microsoft YaHei"/>
                <a:cs typeface="Microsoft YaHei"/>
              </a:rPr>
              <a:t>目标：把“路过流量”变“收藏/复购客户”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937760" y="1188720"/>
          <a:ext cx="685799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619"/>
                <a:gridCol w="2787445"/>
                <a:gridCol w="2123767"/>
                <a:gridCol w="752167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分镜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画面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口播/字幕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 钩子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素白鞋 » 满配鞋 闪电对比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“一双鞋的尽头，是回头率”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 套装特写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水果/星星 12 款快剪贴面特写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“果趣星礼 12 枚 不重复”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4s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上脚场景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宿舍»街头 两步换装镜头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“一按一扣，3 秒换风格”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 夜光记忆点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暗光下隐藏款发光特写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“附 2 枚夜光隐藏款”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3s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S5 价格锚点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价格标签弹出 + 进店引导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“单枚约 1 元，混批更省”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937760" y="4434840"/>
            <a:ext cx="6858000" cy="141732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4572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视频工程化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956048"/>
            <a:ext cx="6446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与主图同源素材</a:t>
            </a: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：AI 成片分镜复用主图场景，成本~0 增量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15s 五段式</a:t>
            </a:r>
            <a:r>
              <a:rPr sz="100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：钩子»卖点»场景»记忆点»锚点，完播优先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 天数据复盘：两个 KPI 目标的兑现情况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" y="1170432"/>
            <a:ext cx="6885432" cy="303111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07008"/>
            <a:ext cx="6812280" cy="295796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43800" y="1207008"/>
          <a:ext cx="425196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060"/>
                <a:gridCol w="905510"/>
                <a:gridCol w="905510"/>
                <a:gridCol w="94488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优化前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64008" marR="45720" marT="18288" marB="18288" anchor="ctr">
                    <a:solidFill>
                      <a:srgbClr val="25324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主图点击率 CTR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+156%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详情页平均停留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23s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47s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+104%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询单转化率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8.7%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+112%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选品立项周期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天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天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-86%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整套视觉成本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¥3,200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¥180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-94%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上新»爆款成功率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34%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B2F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+16 pct</a:t>
                      </a:r>
                    </a:p>
                  </a:txBody>
                  <a:tcPr marL="64008" marR="45720" marT="18288" marB="18288" anchor="ctr">
                    <a:solidFill>
                      <a:srgbClr val="FFF4E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224528"/>
            <a:ext cx="11384280" cy="169164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07408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战役结论（示例复盘口径）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64608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首月动销 3.2 万件（目标 2 万，达成 160%）｜ 上新»爆款成功率 18% » 34% ｜ 研发周期 14 天 » 2 天 ｜ 视觉成本 ¥3,200 » ¥180/套（-94%）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两条流水线互相喂养：点击与转化数据回流蓝海象限，下一轮选品阈值自动调优。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复刻资产：提示词与技能模板（可直接工程化）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PROMPTS &amp; SKILL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532120" cy="324612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1688 蓝海选品分析 · Skill 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角色：1688 生意助手·选品分析子技能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输入：类目种子词 / 目标客单带 / 产能约束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工具：RPA 探针采数 » ecommerce-data 查询 »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     competitor_report 报告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模型：供需比 × 竞争集中度四象限 + 词根增速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输出：蓝海象限坐标 + SKU 梯队建议 +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     风险清单（IP/季节性/账期）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532120" cy="324612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353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专家 · 设计专家 · SubAgent 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78308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范式：newton-skill-workflow-v1（技能工作流）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输入：爆款基因库 + 品牌色 + 商品卖点卡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编排：方向稿×3 » 确认 » 批量 » maxRounds 收敛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产出：主图 3 方向 / 详情 6 屏 wireframe /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     首页 5 模块 / 15s 视频分镜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质检：标题区留白率 / 密度评分 / 点击率先验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663440"/>
            <a:ext cx="11384280" cy="137160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28032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落地顺序建议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：先跑通“蓝海选品 Skill”（数据最轻），再接设计专家（需要基因库积累），最后首页/视频自动化。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0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合规声明</a:t>
            </a:r>
            <a:r>
              <a:rPr sz="10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：本案例全部经营数据为示例复盘口径；图像为 AI 生成的自有示例素材；不构成任何经营承诺。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7910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爆款案例复刻 · 数据驱动选品开款 × AI 视觉优化 ｜ 数据为示例复盘口径（非平台真实数据）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1575" y="657910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784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数据驱动精准选品 · AI 辅助高效作图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把每一次上新，变成一次可复用的临床实验。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4206240"/>
            <a:ext cx="7772400" cy="1234440"/>
          </a:xfrm>
          <a:prstGeom prst="roundRect">
            <a:avLst>
              <a:gd name="adj" fmla="val 12000"/>
            </a:avLst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4370832"/>
            <a:ext cx="7223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下一步：接入店铺真实数据源（只读授权）替换示例口径 » 沉淀团队级爆款基因库 » 每周 2 次主题测款的细胞级上新节奏。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